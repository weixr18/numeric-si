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65"/>
  </p:normalViewPr>
  <p:slideViewPr>
    <p:cSldViewPr snapToGrid="0">
      <p:cViewPr varScale="1">
        <p:scale>
          <a:sx n="107" d="100"/>
          <a:sy n="107" d="100"/>
        </p:scale>
        <p:origin x="736"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4350F6E7-BA34-456B-BF4E-351A0D59D0F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F11CA28-A873-49FE-82C0-08A36BD37808}"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4350F6E7-BA34-456B-BF4E-351A0D59D0F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F11CA28-A873-49FE-82C0-08A36BD37808}"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4350F6E7-BA34-456B-BF4E-351A0D59D0F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F11CA28-A873-49FE-82C0-08A36BD37808}"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4350F6E7-BA34-456B-BF4E-351A0D59D0F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F11CA28-A873-49FE-82C0-08A36BD37808}"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4350F6E7-BA34-456B-BF4E-351A0D59D0F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F11CA28-A873-49FE-82C0-08A36BD37808}"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4350F6E7-BA34-456B-BF4E-351A0D59D0F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F11CA28-A873-49FE-82C0-08A36BD37808}"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350F6E7-BA34-456B-BF4E-351A0D59D0F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F11CA28-A873-49FE-82C0-08A36BD37808}"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4350F6E7-BA34-456B-BF4E-351A0D59D0F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F11CA28-A873-49FE-82C0-08A36BD37808}"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4350F6E7-BA34-456B-BF4E-351A0D59D0F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F11CA28-A873-49FE-82C0-08A36BD37808}"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4350F6E7-BA34-456B-BF4E-351A0D59D0F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F11CA28-A873-49FE-82C0-08A36BD37808}"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4350F6E7-BA34-456B-BF4E-351A0D59D0F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F11CA28-A873-49FE-82C0-08A36BD37808}"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50F6E7-BA34-456B-BF4E-351A0D59D0F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11CA28-A873-49FE-82C0-08A36BD3780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png"/><Relationship Id="rId2" Type="http://schemas.openxmlformats.org/officeDocument/2006/relationships/hyperlink" Target="https://zhuanlan.zhihu.com/p/141875765" TargetMode="External"/><Relationship Id="rId1" Type="http://schemas.openxmlformats.org/officeDocument/2006/relationships/hyperlink" Target="https://www.bilibili.com/video/av85508117" TargetMode="Externa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2020</a:t>
            </a:r>
            <a:r>
              <a:rPr lang="zh-CN" altLang="en-US" dirty="0"/>
              <a:t>秋季学期数值分析</a:t>
            </a:r>
            <a:br>
              <a:rPr lang="en-US" altLang="zh-CN" dirty="0"/>
            </a:br>
            <a:r>
              <a:rPr lang="zh-CN" altLang="en-US" dirty="0"/>
              <a:t>第一次大作业说明</a:t>
            </a:r>
            <a:endParaRPr lang="zh-CN" altLang="en-US" dirty="0"/>
          </a:p>
        </p:txBody>
      </p:sp>
      <p:sp>
        <p:nvSpPr>
          <p:cNvPr id="3" name="副标题 2"/>
          <p:cNvSpPr>
            <a:spLocks noGrp="1"/>
          </p:cNvSpPr>
          <p:nvPr>
            <p:ph type="subTitle" idx="1"/>
          </p:nvPr>
        </p:nvSpPr>
        <p:spPr/>
        <p:txBody>
          <a:bodyPr/>
          <a:lstStyle/>
          <a:p>
            <a:endParaRPr lang="en-US" altLang="zh-CN" dirty="0"/>
          </a:p>
          <a:p>
            <a:endParaRPr lang="en-US" altLang="zh-CN" dirty="0"/>
          </a:p>
          <a:p>
            <a:r>
              <a:rPr lang="zh-CN" altLang="en-US" dirty="0"/>
              <a:t>截止时间：</a:t>
            </a:r>
            <a:r>
              <a:rPr lang="en-US" altLang="zh-CN" dirty="0"/>
              <a:t>2020-11-9</a:t>
            </a:r>
            <a:endParaRPr lang="en-US" altLang="zh-CN" dirty="0"/>
          </a:p>
          <a:p>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背景</a:t>
            </a:r>
            <a:endParaRPr lang="zh-CN" altLang="en-US" b="1" dirty="0"/>
          </a:p>
        </p:txBody>
      </p:sp>
      <p:sp>
        <p:nvSpPr>
          <p:cNvPr id="3" name="内容占位符 2"/>
          <p:cNvSpPr>
            <a:spLocks noGrp="1"/>
          </p:cNvSpPr>
          <p:nvPr>
            <p:ph idx="1"/>
          </p:nvPr>
        </p:nvSpPr>
        <p:spPr/>
        <p:txBody>
          <a:bodyPr/>
          <a:lstStyle/>
          <a:p>
            <a:r>
              <a:rPr lang="zh-CN" altLang="en-US" dirty="0"/>
              <a:t> </a:t>
            </a:r>
            <a:r>
              <a:rPr lang="en-US" altLang="zh-CN" dirty="0"/>
              <a:t>2019</a:t>
            </a:r>
            <a:r>
              <a:rPr lang="zh-CN" altLang="en-US" dirty="0"/>
              <a:t>年</a:t>
            </a:r>
            <a:r>
              <a:rPr lang="en-US" altLang="zh-CN" dirty="0"/>
              <a:t>12</a:t>
            </a:r>
            <a:r>
              <a:rPr lang="zh-CN" altLang="en-US" dirty="0"/>
              <a:t>月，</a:t>
            </a:r>
            <a:r>
              <a:rPr lang="zh-CN" altLang="en-US" b="1" dirty="0">
                <a:solidFill>
                  <a:srgbClr val="0070C0"/>
                </a:solidFill>
              </a:rPr>
              <a:t>新型冠状病毒</a:t>
            </a:r>
            <a:r>
              <a:rPr lang="zh-CN" altLang="en-US" dirty="0"/>
              <a:t>引发肺炎疫情，给世界人民带来了极大的痛苦和损失。时至今日我国通过有力的防控措施已经较好地控制了疫情，但在海外的许多国家，疫情仍然在继续爆发，感染人数不断上升。</a:t>
            </a:r>
            <a:endParaRPr lang="en-US" altLang="zh-CN" dirty="0"/>
          </a:p>
          <a:p>
            <a:endParaRPr lang="en-US" altLang="zh-CN" dirty="0"/>
          </a:p>
          <a:p>
            <a:r>
              <a:rPr lang="zh-CN" altLang="en-US" dirty="0"/>
              <a:t>本次大作业将通过</a:t>
            </a:r>
            <a:r>
              <a:rPr lang="zh-CN" altLang="en-US" b="1" dirty="0">
                <a:solidFill>
                  <a:srgbClr val="0070C0"/>
                </a:solidFill>
              </a:rPr>
              <a:t>传染病学</a:t>
            </a:r>
            <a:r>
              <a:rPr lang="en-US" altLang="zh-CN" b="1" dirty="0">
                <a:solidFill>
                  <a:srgbClr val="0070C0"/>
                </a:solidFill>
              </a:rPr>
              <a:t>SI</a:t>
            </a:r>
            <a:r>
              <a:rPr lang="zh-CN" altLang="en-US" b="1" dirty="0">
                <a:solidFill>
                  <a:srgbClr val="0070C0"/>
                </a:solidFill>
              </a:rPr>
              <a:t>模型</a:t>
            </a:r>
            <a:r>
              <a:rPr lang="zh-CN" altLang="en-US" dirty="0"/>
              <a:t>对疫情传播进行分析。</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1.</a:t>
            </a:r>
            <a:r>
              <a:rPr lang="zh-CN" altLang="en-US" b="1" dirty="0"/>
              <a:t>传染病学</a:t>
            </a:r>
            <a:r>
              <a:rPr lang="en-US" altLang="zh-CN" b="1" dirty="0"/>
              <a:t>SI</a:t>
            </a:r>
            <a:r>
              <a:rPr lang="zh-CN" altLang="en-US" b="1" dirty="0"/>
              <a:t>模型</a:t>
            </a:r>
            <a:endParaRPr lang="zh-CN" altLang="en-US" b="1" dirty="0"/>
          </a:p>
        </p:txBody>
      </p:sp>
      <mc:AlternateContent xmlns:mc="http://schemas.openxmlformats.org/markup-compatibility/2006">
        <mc:Choice xmlns:a14="http://schemas.microsoft.com/office/drawing/2010/main" Requires="a14">
          <p:sp>
            <p:nvSpPr>
              <p:cNvPr id="3" name="内容占位符 2">
                <a:extLst>
                  <a:ext uri="{FF2B5EF4-FFF2-40B4-BE49-F238E27FC236}">
                    <ele attr="{109295A0-5785-425F-ADF6-F67279B1C8E4}"/>
                  </a:ext>
                </a:extLst>
              </p:cNvPr>
              <p:cNvSpPr>
                <a:spLocks noGrp="1"/>
              </p:cNvSpPr>
              <p:nvPr>
                <p:ph idx="1"/>
              </p:nvPr>
            </p:nvSpPr>
            <p:spPr/>
            <p:txBody>
              <a:bodyPr/>
              <a:lstStyle/>
              <a:p>
                <a:r>
                  <a:rPr lang="zh-CN" altLang="en-US" dirty="0"/>
                  <a:t>利用</a:t>
                </a:r>
                <a:r>
                  <a:rPr lang="en-US" altLang="zh-CN" dirty="0"/>
                  <a:t>SI</a:t>
                </a:r>
                <a:r>
                  <a:rPr lang="zh-CN" altLang="en-US" dirty="0"/>
                  <a:t>模型，我们可以对新冠感染人数进行建模，请参考资料</a:t>
                </a:r>
                <a:r>
                  <a:rPr lang="en-US" altLang="zh-CN" baseline="30000" dirty="0"/>
                  <a:t>1</a:t>
                </a:r>
                <a:r>
                  <a:rPr lang="zh-CN" altLang="en-US" dirty="0"/>
                  <a:t>和下面的变量设置，</a:t>
                </a:r>
                <a:r>
                  <a:rPr lang="zh-CN" altLang="en-US" b="1" dirty="0">
                    <a:solidFill>
                      <a:srgbClr val="0070C0"/>
                    </a:solidFill>
                  </a:rPr>
                  <a:t>完成</a:t>
                </a:r>
                <a:r>
                  <a:rPr lang="en-US" altLang="zh-CN" b="1" dirty="0">
                    <a:solidFill>
                      <a:srgbClr val="0070C0"/>
                    </a:solidFill>
                  </a:rPr>
                  <a:t>SI</a:t>
                </a:r>
                <a:r>
                  <a:rPr lang="zh-CN" altLang="en-US" b="1" dirty="0">
                    <a:solidFill>
                      <a:srgbClr val="0070C0"/>
                    </a:solidFill>
                  </a:rPr>
                  <a:t>模型解析解</a:t>
                </a:r>
                <a14:m>
                  <m:oMath xmlns:m="http://schemas.openxmlformats.org/officeDocument/2006/math">
                    <m:r>
                      <a:rPr lang="en-US" altLang="zh-CN" b="1" i="1" dirty="0" smtClean="0">
                        <a:solidFill>
                          <a:srgbClr val="0070C0"/>
                        </a:solidFill>
                        <a:latin typeface="Cambria Math" panose="02040503050406030204" pitchFamily="18" charset="0"/>
                      </a:rPr>
                      <m:t>𝑰</m:t>
                    </m:r>
                    <m:r>
                      <a:rPr lang="en-US" altLang="zh-CN" b="1" i="1" dirty="0">
                        <a:solidFill>
                          <a:srgbClr val="0070C0"/>
                        </a:solidFill>
                        <a:latin typeface="Cambria Math" panose="02040503050406030204" pitchFamily="18" charset="0"/>
                      </a:rPr>
                      <m:t>(</m:t>
                    </m:r>
                    <m:r>
                      <a:rPr lang="en-US" altLang="zh-CN" b="1" i="1" dirty="0">
                        <a:solidFill>
                          <a:srgbClr val="0070C0"/>
                        </a:solidFill>
                        <a:latin typeface="Cambria Math" panose="02040503050406030204" pitchFamily="18" charset="0"/>
                      </a:rPr>
                      <m:t>𝒕</m:t>
                    </m:r>
                    <m:r>
                      <a:rPr lang="en-US" altLang="zh-CN" b="1" i="1" dirty="0" smtClean="0">
                        <a:solidFill>
                          <a:srgbClr val="0070C0"/>
                        </a:solidFill>
                        <a:latin typeface="Cambria Math" panose="02040503050406030204" pitchFamily="18" charset="0"/>
                      </a:rPr>
                      <m:t>) </m:t>
                    </m:r>
                  </m:oMath>
                </a14:m>
                <a:r>
                  <a:rPr lang="zh-CN" altLang="en-US" b="1" dirty="0">
                    <a:solidFill>
                      <a:srgbClr val="0070C0"/>
                    </a:solidFill>
                  </a:rPr>
                  <a:t>的推导</a:t>
                </a:r>
                <a:endParaRPr lang="en-US" altLang="zh-CN" b="1" dirty="0"/>
              </a:p>
              <a:p>
                <a:r>
                  <a:rPr lang="zh-CN" altLang="en-US" dirty="0"/>
                  <a:t>参考资料：</a:t>
                </a:r>
                <a:endParaRPr lang="en-US" altLang="zh-CN" dirty="0"/>
              </a:p>
              <a:p>
                <a:pPr lvl="1"/>
                <a:r>
                  <a:rPr lang="en-US" altLang="zh-CN" dirty="0"/>
                  <a:t>【1】</a:t>
                </a:r>
                <a:r>
                  <a:rPr lang="en-US" altLang="zh-CN" dirty="0">
                    <a:hlinkClick r:id="rId1"/>
                  </a:rPr>
                  <a:t>https://www.bilibili.com/video/av85508117</a:t>
                </a:r>
                <a:endParaRPr lang="en-US" altLang="zh-CN" dirty="0"/>
              </a:p>
              <a:p>
                <a:pPr lvl="1"/>
                <a:r>
                  <a:rPr lang="en-US" altLang="zh-CN" dirty="0"/>
                  <a:t>【2】</a:t>
                </a:r>
                <a:r>
                  <a:rPr lang="en-US" altLang="zh-CN" dirty="0">
                    <a:hlinkClick r:id="rId2"/>
                  </a:rPr>
                  <a:t>https://zhuanlan.zhihu.com/p/141875765</a:t>
                </a:r>
                <a:endParaRPr lang="en-US" altLang="zh-CN" dirty="0"/>
              </a:p>
              <a:p>
                <a:r>
                  <a:rPr lang="zh-CN" altLang="en-US" dirty="0"/>
                  <a:t>变量符号：</a:t>
                </a:r>
                <a:endParaRPr lang="en-US" altLang="zh-CN" dirty="0"/>
              </a:p>
              <a:p>
                <a:pPr lvl="1"/>
                <a:r>
                  <a:rPr lang="zh-CN" altLang="en-US" dirty="0"/>
                  <a:t>区域总人口为</a:t>
                </a:r>
                <a14:m>
                  <m:oMath xmlns:m="http://schemas.openxmlformats.org/officeDocument/2006/math">
                    <m:r>
                      <a:rPr lang="en-US" altLang="zh-CN" i="1" dirty="0" smtClean="0">
                        <a:latin typeface="Cambria Math" panose="02040503050406030204" pitchFamily="18" charset="0"/>
                      </a:rPr>
                      <m:t>𝑁</m:t>
                    </m:r>
                  </m:oMath>
                </a14:m>
                <a:r>
                  <a:rPr lang="zh-CN" altLang="en-US" dirty="0"/>
                  <a:t>，感染者为</a:t>
                </a:r>
                <a14:m>
                  <m:oMath xmlns:m="http://schemas.openxmlformats.org/officeDocument/2006/math">
                    <m:r>
                      <a:rPr lang="en-US" altLang="zh-CN" i="1" dirty="0" smtClean="0">
                        <a:latin typeface="Cambria Math" panose="02040503050406030204" pitchFamily="18" charset="0"/>
                      </a:rPr>
                      <m:t>𝐼</m:t>
                    </m:r>
                  </m:oMath>
                </a14:m>
                <a:r>
                  <a:rPr lang="zh-CN" altLang="en-US" dirty="0"/>
                  <a:t>，未感染者为</a:t>
                </a:r>
                <a14:m>
                  <m:oMath xmlns:m="http://schemas.openxmlformats.org/officeDocument/2006/math">
                    <m:r>
                      <a:rPr lang="en-US" altLang="zh-CN" i="1" dirty="0" smtClean="0">
                        <a:latin typeface="Cambria Math" panose="02040503050406030204" pitchFamily="18" charset="0"/>
                      </a:rPr>
                      <m:t>𝑆</m:t>
                    </m:r>
                    <m:r>
                      <a:rPr lang="zh-CN" altLang="en-US" i="1" dirty="0">
                        <a:latin typeface="Cambria Math" panose="02040503050406030204" pitchFamily="18" charset="0"/>
                      </a:rPr>
                      <m:t>。</m:t>
                    </m:r>
                  </m:oMath>
                </a14:m>
                <a:r>
                  <a:rPr lang="zh-CN" altLang="en-US" dirty="0"/>
                  <a:t>可以用</a:t>
                </a:r>
                <a14:m>
                  <m:oMath xmlns:m="http://schemas.openxmlformats.org/officeDocument/2006/math">
                    <m:sSub>
                      <m:sSubPr>
                        <m:ctrlPr>
                          <a:rPr lang="en-US" altLang="zh-CN" b="0" i="1" dirty="0" smtClean="0">
                            <a:latin typeface="Cambria Math" panose="02040503050406030204" pitchFamily="18" charset="0"/>
                          </a:rPr>
                        </m:ctrlPr>
                      </m:sSubPr>
                      <m:e>
                        <m:r>
                          <a:rPr lang="en-US" altLang="zh-CN" i="1" dirty="0" smtClean="0">
                            <a:latin typeface="Cambria Math" panose="02040503050406030204" pitchFamily="18" charset="0"/>
                          </a:rPr>
                          <m:t>𝐼</m:t>
                        </m:r>
                      </m:e>
                      <m:sub>
                        <m:r>
                          <a:rPr lang="en-US" altLang="zh-CN" b="0" i="1" dirty="0" smtClean="0">
                            <a:latin typeface="Cambria Math" panose="02040503050406030204" pitchFamily="18" charset="0"/>
                          </a:rPr>
                          <m:t>0</m:t>
                        </m:r>
                      </m:sub>
                    </m:sSub>
                  </m:oMath>
                </a14:m>
                <a:r>
                  <a:rPr lang="zh-CN" altLang="en-US" dirty="0"/>
                  <a:t>表示零时刻感染人数</a:t>
                </a:r>
                <a:endParaRPr lang="en-US" altLang="zh-CN" dirty="0"/>
              </a:p>
              <a:p>
                <a:pPr lvl="1"/>
                <a:r>
                  <a:rPr lang="zh-CN" altLang="en-US" dirty="0"/>
                  <a:t>每个人每天接触的其他人的个数一定，且为</a:t>
                </a:r>
                <a14:m>
                  <m:oMath xmlns:m="http://schemas.openxmlformats.org/officeDocument/2006/math">
                    <m:r>
                      <a:rPr lang="en-US" altLang="zh-CN" i="1" dirty="0" smtClean="0">
                        <a:latin typeface="Cambria Math" panose="02040503050406030204" pitchFamily="18" charset="0"/>
                      </a:rPr>
                      <m:t>𝑟</m:t>
                    </m:r>
                  </m:oMath>
                </a14:m>
                <a:endParaRPr lang="en-US" altLang="zh-CN" dirty="0"/>
              </a:p>
              <a:p>
                <a:pPr lvl="1"/>
                <a:r>
                  <a:rPr lang="zh-CN" altLang="en-US" dirty="0"/>
                  <a:t>每次接触中，如果是感染者接触未感染者，</a:t>
                </a:r>
                <a14:m>
                  <m:oMath xmlns:m="http://schemas.openxmlformats.org/officeDocument/2006/math">
                    <m:r>
                      <a:rPr lang="en-US" altLang="zh-CN" b="0" i="1" smtClean="0">
                        <a:latin typeface="Cambria Math" panose="02040503050406030204" pitchFamily="18" charset="0"/>
                      </a:rPr>
                      <m:t>𝛽</m:t>
                    </m:r>
                  </m:oMath>
                </a14:m>
                <a:r>
                  <a:rPr lang="zh-CN" altLang="en-US" dirty="0"/>
                  <a:t>的概率传染疾病</a:t>
                </a:r>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3"/>
                <a:stretch>
                  <a:fillRect l="-1043" t="-2521" r="-464"/>
                </a:stretch>
              </a:blipFill>
            </p:spPr>
            <p:txBody>
              <a:bodyPr/>
              <a:lstStyle/>
              <a:p>
                <a:r>
                  <a:rPr lang="zh-CN" altLang="en-US">
                    <a:noFill/>
                  </a:rPr>
                  <a:t> </a:t>
                </a:r>
                <a:endParaRPr lang="zh-CN" altLang="en-US">
                  <a:noFill/>
                </a:endParaRPr>
              </a:p>
            </p:txBody>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58149"/>
            <a:ext cx="10515600" cy="1325563"/>
          </a:xfrm>
        </p:spPr>
        <p:txBody>
          <a:bodyPr/>
          <a:lstStyle/>
          <a:p>
            <a:r>
              <a:rPr lang="en-US" altLang="zh-CN" b="1" dirty="0"/>
              <a:t>2.</a:t>
            </a:r>
            <a:r>
              <a:rPr lang="zh-CN" altLang="en-US" b="1" dirty="0"/>
              <a:t>最小二乘法</a:t>
            </a:r>
            <a:r>
              <a:rPr lang="en-US" altLang="zh-CN" b="1" dirty="0"/>
              <a:t>SI</a:t>
            </a:r>
            <a:r>
              <a:rPr lang="zh-CN" altLang="en-US" b="1" dirty="0"/>
              <a:t>模型参数估计</a:t>
            </a:r>
            <a:endParaRPr lang="zh-CN" altLang="en-US" b="1" dirty="0"/>
          </a:p>
        </p:txBody>
      </p:sp>
      <mc:AlternateContent xmlns:mc="http://schemas.openxmlformats.org/markup-compatibility/2006">
        <mc:Choice xmlns:a14="http://schemas.microsoft.com/office/drawing/2010/main" Requires="a14">
          <p:sp>
            <p:nvSpPr>
              <p:cNvPr id="3" name="内容占位符 2">
                <a:extLst>
                  <a:ext uri="{FF2B5EF4-FFF2-40B4-BE49-F238E27FC236}">
                    <ele attr="{60399202-1A7B-40C4-A851-9D4649C175B1}"/>
                  </a:ext>
                </a:extLst>
              </p:cNvPr>
              <p:cNvSpPr>
                <a:spLocks noGrp="1"/>
              </p:cNvSpPr>
              <p:nvPr>
                <p:ph idx="1"/>
              </p:nvPr>
            </p:nvSpPr>
            <p:spPr>
              <a:xfrm>
                <a:off x="838200" y="1482571"/>
                <a:ext cx="10515600" cy="5010304"/>
              </a:xfrm>
            </p:spPr>
            <p:txBody>
              <a:bodyPr>
                <a:normAutofit/>
              </a:bodyPr>
              <a:lstStyle/>
              <a:p>
                <a:r>
                  <a:rPr lang="zh-CN" altLang="en-US" dirty="0"/>
                  <a:t> 在实际中，为了确定</a:t>
                </a:r>
                <a:r>
                  <a:rPr lang="en-US" altLang="zh-CN" dirty="0"/>
                  <a:t>SI</a:t>
                </a:r>
                <a:r>
                  <a:rPr lang="zh-CN" altLang="en-US" dirty="0"/>
                  <a:t>模型的参数，常需要通过多次实测采样结合数值方法得到参数的估计值</a:t>
                </a:r>
                <a:endParaRPr lang="en-US" altLang="zh-CN" dirty="0"/>
              </a:p>
              <a:p>
                <a:r>
                  <a:rPr lang="zh-CN" altLang="en-US" dirty="0"/>
                  <a:t>为了方便计算，假设已经通过科学论证得出了该地区的传染情况满足</a:t>
                </a:r>
                <a14:m>
                  <m:oMath xmlns:m="http://schemas.openxmlformats.org/officeDocument/2006/math">
                    <m:r>
                      <a:rPr lang="en-US" altLang="zh-CN" b="0" i="1" dirty="0" smtClean="0">
                        <a:latin typeface="Cambria Math" panose="02040503050406030204" pitchFamily="18" charset="0"/>
                      </a:rPr>
                      <m:t>𝑟</m:t>
                    </m:r>
                    <m:r>
                      <a:rPr lang="en-US" altLang="zh-CN" b="0" i="1" dirty="0" smtClean="0">
                        <a:latin typeface="Cambria Math" panose="02040503050406030204" pitchFamily="18" charset="0"/>
                      </a:rPr>
                      <m:t>𝛽</m:t>
                    </m:r>
                    <m:r>
                      <a:rPr lang="en-US" altLang="zh-CN" b="0" i="1" dirty="0" smtClean="0">
                        <a:latin typeface="Cambria Math" panose="02040503050406030204" pitchFamily="18" charset="0"/>
                      </a:rPr>
                      <m:t>=1</m:t>
                    </m:r>
                  </m:oMath>
                </a14:m>
                <a:r>
                  <a:rPr lang="zh-CN" altLang="en-US" dirty="0"/>
                  <a:t>。试使用</a:t>
                </a:r>
                <a:r>
                  <a:rPr lang="zh-CN" altLang="en-US" b="1" dirty="0">
                    <a:solidFill>
                      <a:srgbClr val="0070C0"/>
                    </a:solidFill>
                  </a:rPr>
                  <a:t>最小二乘法</a:t>
                </a:r>
                <a:r>
                  <a:rPr lang="zh-CN" altLang="en-US" dirty="0"/>
                  <a:t>对上一题推导模型中的未知参数进行估计，并写出</a:t>
                </a:r>
                <a14:m>
                  <m:oMath xmlns:m="http://schemas.openxmlformats.org/officeDocument/2006/math">
                    <m:r>
                      <a:rPr lang="en-US" altLang="zh-CN" b="0" i="1" smtClean="0">
                        <a:latin typeface="Cambria Math" panose="02040503050406030204" pitchFamily="18" charset="0"/>
                      </a:rPr>
                      <m:t>𝐼</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oMath>
                </a14:m>
                <a:r>
                  <a:rPr lang="zh-CN" altLang="en-US" dirty="0"/>
                  <a:t>的表达式。实地检测的结果在</a:t>
                </a:r>
                <a:r>
                  <a:rPr lang="en-US" altLang="zh-CN" b="1" dirty="0" err="1">
                    <a:solidFill>
                      <a:srgbClr val="0070C0"/>
                    </a:solidFill>
                  </a:rPr>
                  <a:t>data.csv</a:t>
                </a:r>
                <a:r>
                  <a:rPr lang="zh-CN" altLang="en-US" dirty="0"/>
                  <a:t>中。</a:t>
                </a:r>
                <a:endParaRPr lang="en-US" altLang="zh-CN" dirty="0"/>
              </a:p>
              <a:p>
                <a:endParaRPr lang="en-US" altLang="zh-CN" dirty="0"/>
              </a:p>
              <a:p>
                <a:r>
                  <a:rPr lang="zh-CN" altLang="en-US" dirty="0"/>
                  <a:t>重要提示：</a:t>
                </a:r>
                <a:endParaRPr lang="en-US" altLang="zh-CN" dirty="0"/>
              </a:p>
              <a:p>
                <a:pPr lvl="1"/>
                <a:r>
                  <a:rPr lang="zh-CN" altLang="en-US" dirty="0"/>
                  <a:t>最小二乘需要</a:t>
                </a:r>
                <a:r>
                  <a:rPr lang="zh-CN" altLang="en-US" b="1" dirty="0">
                    <a:solidFill>
                      <a:srgbClr val="FF0000"/>
                    </a:solidFill>
                  </a:rPr>
                  <a:t>自行编写</a:t>
                </a:r>
                <a:r>
                  <a:rPr lang="zh-CN" altLang="en-US" dirty="0"/>
                  <a:t>，在代码当中不允许使用</a:t>
                </a:r>
                <a:r>
                  <a:rPr lang="en-US" altLang="zh-CN" dirty="0" err="1"/>
                  <a:t>numpy.polyfit</a:t>
                </a:r>
                <a:r>
                  <a:rPr lang="zh-CN" altLang="en-US" dirty="0"/>
                  <a:t>及其他类似功能的函数</a:t>
                </a:r>
                <a:endParaRPr lang="en-US" altLang="zh-CN" dirty="0"/>
              </a:p>
              <a:p>
                <a:pPr lvl="1"/>
                <a:r>
                  <a:rPr lang="zh-CN" altLang="en-US" dirty="0"/>
                  <a:t>本题可以使用矩阵运算以及计算指数函数（例如 </a:t>
                </a:r>
                <a:r>
                  <a:rPr lang="en-US" altLang="zh-CN" dirty="0" err="1"/>
                  <a:t>numpy.exp</a:t>
                </a:r>
                <a:r>
                  <a:rPr lang="zh-CN" altLang="en-US" dirty="0"/>
                  <a:t>）的库函数</a:t>
                </a:r>
                <a:endParaRPr lang="en-US" altLang="zh-CN" dirty="0"/>
              </a:p>
              <a:p>
                <a:pPr lvl="1"/>
                <a:r>
                  <a:rPr lang="zh-CN" altLang="en-US" dirty="0"/>
                  <a:t>本题</a:t>
                </a:r>
                <a:r>
                  <a:rPr lang="zh-CN" altLang="en-US" b="1" dirty="0">
                    <a:solidFill>
                      <a:srgbClr val="FF0000"/>
                    </a:solidFill>
                  </a:rPr>
                  <a:t>不需要</a:t>
                </a:r>
                <a:r>
                  <a:rPr lang="zh-CN" altLang="en-US" dirty="0"/>
                  <a:t>误差分析，之后几个问题中的模型参数采用本题估计的结果，并将被认为是准确值。如果本题计算错误不会影响后续题目的得分</a:t>
                </a:r>
                <a:endParaRPr lang="en-US" altLang="zh-CN" dirty="0"/>
              </a:p>
              <a:p>
                <a:pPr lvl="1"/>
                <a:endParaRPr lang="zh-CN" altLang="en-US" dirty="0"/>
              </a:p>
              <a:p>
                <a:pPr marL="457200" lvl="1" indent="0">
                  <a:buNone/>
                </a:pPr>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838200" y="1482571"/>
                <a:ext cx="10515600" cy="5010304"/>
              </a:xfrm>
              <a:blipFill rotWithShape="1">
                <a:blip r:embed="rId1"/>
                <a:stretch>
                  <a:fillRect l="-965" t="-2025" r="-1930" b="-2532"/>
                </a:stretch>
              </a:blipFill>
            </p:spPr>
            <p:txBody>
              <a:bodyPr/>
              <a:lstStyle/>
              <a:p>
                <a:r>
                  <a:rPr lang="zh-CN" altLang="en-US">
                    <a:noFill/>
                  </a:rPr>
                  <a:t> </a:t>
                </a:r>
                <a:endParaRPr lang="zh-CN" altLang="en-US">
                  <a:noFill/>
                </a:endParaRPr>
              </a:p>
            </p:txBody>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3.</a:t>
            </a:r>
            <a:r>
              <a:rPr lang="zh-CN" altLang="en-US" b="1" dirty="0"/>
              <a:t>插值法</a:t>
            </a:r>
            <a:r>
              <a:rPr lang="en-US" altLang="zh-CN" b="1" dirty="0"/>
              <a:t>SI</a:t>
            </a:r>
            <a:r>
              <a:rPr lang="zh-CN" altLang="en-US" b="1" dirty="0"/>
              <a:t>模型感染人数估计</a:t>
            </a:r>
            <a:endParaRPr lang="zh-CN" altLang="en-US" b="1" dirty="0"/>
          </a:p>
        </p:txBody>
      </p:sp>
      <mc:AlternateContent xmlns:mc="http://schemas.openxmlformats.org/markup-compatibility/2006">
        <mc:Choice xmlns:a14="http://schemas.microsoft.com/office/drawing/2010/main" Requires="a14">
          <p:sp>
            <p:nvSpPr>
              <p:cNvPr id="3" name="内容占位符 2">
                <a:extLst>
                  <a:ext uri="{FF2B5EF4-FFF2-40B4-BE49-F238E27FC236}">
                    <ele attr="{C2921C4A-2FF3-47E4-9D80-DF87869B92B9}"/>
                  </a:ext>
                </a:extLst>
              </p:cNvPr>
              <p:cNvSpPr>
                <a:spLocks noGrp="1"/>
              </p:cNvSpPr>
              <p:nvPr>
                <p:ph idx="1"/>
              </p:nvPr>
            </p:nvSpPr>
            <p:spPr/>
            <p:txBody>
              <a:bodyPr>
                <a:normAutofit fontScale="92500" lnSpcReduction="10000"/>
              </a:bodyPr>
              <a:lstStyle/>
              <a:p>
                <a:r>
                  <a:rPr lang="zh-CN" altLang="en-US" dirty="0"/>
                  <a:t> 根据第二题得到的参数，我们得到了完整的</a:t>
                </a:r>
                <a:r>
                  <a:rPr lang="en-US" altLang="zh-CN" dirty="0"/>
                  <a:t>SI</a:t>
                </a:r>
                <a:r>
                  <a:rPr lang="zh-CN" altLang="en-US" dirty="0"/>
                  <a:t>模型</a:t>
                </a:r>
                <a14:m>
                  <m:oMath xmlns:m="http://schemas.openxmlformats.org/officeDocument/2006/math">
                    <m:r>
                      <a:rPr lang="en-US" altLang="zh-CN" i="1" dirty="0" smtClean="0">
                        <a:latin typeface="Cambria Math" panose="02040503050406030204" pitchFamily="18" charset="0"/>
                      </a:rPr>
                      <m:t>𝐼</m:t>
                    </m:r>
                    <m:d>
                      <m:dPr>
                        <m:ctrlPr>
                          <a:rPr lang="en-US" altLang="zh-CN" i="1" dirty="0" smtClean="0">
                            <a:latin typeface="Cambria Math" panose="02040503050406030204" pitchFamily="18" charset="0"/>
                          </a:rPr>
                        </m:ctrlPr>
                      </m:dPr>
                      <m:e>
                        <m:r>
                          <a:rPr lang="en-US" altLang="zh-CN" i="1" dirty="0" smtClean="0">
                            <a:latin typeface="Cambria Math" panose="02040503050406030204" pitchFamily="18" charset="0"/>
                          </a:rPr>
                          <m:t>𝑡</m:t>
                        </m:r>
                      </m:e>
                    </m:d>
                    <m:r>
                      <a:rPr lang="zh-CN" altLang="en-US" i="1" dirty="0">
                        <a:latin typeface="Cambria Math" panose="02040503050406030204" pitchFamily="18" charset="0"/>
                      </a:rPr>
                      <m:t>。</m:t>
                    </m:r>
                  </m:oMath>
                </a14:m>
                <a:r>
                  <a:rPr lang="zh-CN" altLang="en-US" dirty="0"/>
                  <a:t>现假设模型理想化，使</a:t>
                </a:r>
                <a14:m>
                  <m:oMath xmlns:m="http://schemas.openxmlformats.org/officeDocument/2006/math">
                    <m:r>
                      <a:rPr lang="en-US" altLang="zh-CN" i="1" dirty="0" smtClean="0">
                        <a:latin typeface="Cambria Math" panose="02040503050406030204" pitchFamily="18" charset="0"/>
                      </a:rPr>
                      <m:t>𝐼</m:t>
                    </m:r>
                    <m:d>
                      <m:dPr>
                        <m:ctrlPr>
                          <a:rPr lang="en-US" altLang="zh-CN" i="1" dirty="0" smtClean="0">
                            <a:latin typeface="Cambria Math" panose="02040503050406030204" pitchFamily="18" charset="0"/>
                          </a:rPr>
                        </m:ctrlPr>
                      </m:dPr>
                      <m:e>
                        <m:r>
                          <a:rPr lang="en-US" altLang="zh-CN" i="1" dirty="0" smtClean="0">
                            <a:latin typeface="Cambria Math" panose="02040503050406030204" pitchFamily="18" charset="0"/>
                          </a:rPr>
                          <m:t>𝑡</m:t>
                        </m:r>
                      </m:e>
                    </m:d>
                    <m:r>
                      <a:rPr lang="zh-CN" altLang="en-US" i="1" dirty="0">
                        <a:latin typeface="Cambria Math" panose="02040503050406030204" pitchFamily="18" charset="0"/>
                      </a:rPr>
                      <m:t>在</m:t>
                    </m:r>
                  </m:oMath>
                </a14:m>
                <a:r>
                  <a:rPr lang="zh-CN" altLang="en-US" dirty="0"/>
                  <a:t>下面给定的区间内为连续函数，非整数的函数值表示当日累计感染人数的期望值。</a:t>
                </a:r>
                <a:endParaRPr lang="en-US" altLang="zh-CN" dirty="0"/>
              </a:p>
              <a:p>
                <a:endParaRPr lang="en-US" altLang="zh-CN" dirty="0"/>
              </a:p>
              <a:p>
                <a:r>
                  <a:rPr lang="zh-CN" altLang="en-US" dirty="0"/>
                  <a:t>表</a:t>
                </a:r>
                <a:r>
                  <a:rPr lang="en-US" altLang="zh-CN" b="1" dirty="0">
                    <a:solidFill>
                      <a:srgbClr val="0070C0"/>
                    </a:solidFill>
                  </a:rPr>
                  <a:t>LUT.csv</a:t>
                </a:r>
                <a:r>
                  <a:rPr lang="zh-CN" altLang="en-US" dirty="0"/>
                  <a:t>中提供了</a:t>
                </a:r>
                <a:r>
                  <a:rPr lang="en-US" altLang="zh-CN" dirty="0"/>
                  <a:t>[0, 15]</a:t>
                </a:r>
                <a:r>
                  <a:rPr lang="zh-CN" altLang="en-US" dirty="0"/>
                  <a:t>内几个固定时刻</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𝑡</m:t>
                        </m:r>
                      </m:e>
                      <m:sub>
                        <m:r>
                          <a:rPr lang="en-US" altLang="zh-CN" i="1" dirty="0" smtClean="0">
                            <a:latin typeface="Cambria Math" panose="02040503050406030204" pitchFamily="18" charset="0"/>
                          </a:rPr>
                          <m:t>𝑘</m:t>
                        </m:r>
                      </m:sub>
                    </m:sSub>
                  </m:oMath>
                </a14:m>
                <a:r>
                  <a:rPr lang="zh-CN" altLang="en-US" dirty="0"/>
                  <a:t>的</a:t>
                </a:r>
                <a14:m>
                  <m:oMath xmlns:m="http://schemas.openxmlformats.org/officeDocument/2006/math">
                    <m:r>
                      <a:rPr lang="en-US" altLang="zh-CN" b="0" i="1" dirty="0" smtClean="0">
                        <a:latin typeface="Cambria Math" panose="02040503050406030204" pitchFamily="18" charset="0"/>
                      </a:rPr>
                      <m:t>𝐼</m:t>
                    </m:r>
                    <m:sSub>
                      <m:sSubPr>
                        <m:ctrlPr>
                          <a:rPr lang="en-US" altLang="zh-CN" i="1" dirty="0" smtClean="0">
                            <a:latin typeface="Cambria Math" panose="02040503050406030204" pitchFamily="18" charset="0"/>
                          </a:rPr>
                        </m:ctrlPr>
                      </m:sSubPr>
                      <m:e>
                        <m:r>
                          <a:rPr lang="en-US" altLang="zh-CN" b="0" i="1" dirty="0" smtClean="0">
                            <a:latin typeface="Cambria Math" panose="02040503050406030204" pitchFamily="18" charset="0"/>
                          </a:rPr>
                          <m:t>(</m:t>
                        </m:r>
                        <m:r>
                          <a:rPr lang="en-US" altLang="zh-CN" i="1" dirty="0" smtClean="0">
                            <a:latin typeface="Cambria Math" panose="02040503050406030204" pitchFamily="18" charset="0"/>
                          </a:rPr>
                          <m:t>𝑡</m:t>
                        </m:r>
                      </m:e>
                      <m:sub>
                        <m:r>
                          <a:rPr lang="en-US" altLang="zh-CN" i="1" dirty="0" smtClean="0">
                            <a:latin typeface="Cambria Math" panose="02040503050406030204" pitchFamily="18" charset="0"/>
                          </a:rPr>
                          <m:t>𝑘</m:t>
                        </m:r>
                      </m:sub>
                    </m:sSub>
                    <m:r>
                      <a:rPr lang="en-US" altLang="zh-CN" b="0" i="1" dirty="0" smtClean="0">
                        <a:latin typeface="Cambria Math" panose="02040503050406030204" pitchFamily="18" charset="0"/>
                      </a:rPr>
                      <m:t>)</m:t>
                    </m:r>
                  </m:oMath>
                </a14:m>
                <a:r>
                  <a:rPr lang="zh-CN" altLang="en-US" dirty="0"/>
                  <a:t>的取值，取样间隔为</a:t>
                </a:r>
                <a14:m>
                  <m:oMath xmlns:m="http://schemas.openxmlformats.org/officeDocument/2006/math">
                    <m:r>
                      <a:rPr lang="en-US" altLang="zh-CN" i="1" dirty="0" smtClean="0">
                        <a:latin typeface="Cambria Math" panose="02040503050406030204" pitchFamily="18" charset="0"/>
                      </a:rPr>
                      <m:t>0.5</m:t>
                    </m:r>
                  </m:oMath>
                </a14:m>
                <a:r>
                  <a:rPr lang="zh-CN" altLang="en-US" dirty="0"/>
                  <a:t>。请以表中的</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𝑡</m:t>
                        </m:r>
                      </m:e>
                      <m:sub>
                        <m:r>
                          <a:rPr lang="en-US" altLang="zh-CN" i="1" dirty="0" smtClean="0">
                            <a:latin typeface="Cambria Math" panose="02040503050406030204" pitchFamily="18" charset="0"/>
                          </a:rPr>
                          <m:t>𝑘</m:t>
                        </m:r>
                      </m:sub>
                    </m:sSub>
                  </m:oMath>
                </a14:m>
                <a:r>
                  <a:rPr lang="zh-CN" altLang="en-US" dirty="0"/>
                  <a:t>为插值节点，通过</a:t>
                </a:r>
                <a:r>
                  <a:rPr lang="zh-CN" altLang="en-US" b="1" dirty="0">
                    <a:solidFill>
                      <a:srgbClr val="0070C0"/>
                    </a:solidFill>
                  </a:rPr>
                  <a:t>三次埃尔米特插值</a:t>
                </a:r>
                <a:r>
                  <a:rPr lang="zh-CN" altLang="en-US" dirty="0"/>
                  <a:t>，对</a:t>
                </a:r>
                <a:r>
                  <a:rPr lang="en-US" altLang="zh-CN" dirty="0"/>
                  <a:t>0-15</a:t>
                </a:r>
                <a:r>
                  <a:rPr lang="zh-CN" altLang="en-US" dirty="0"/>
                  <a:t>天内的任意时刻</a:t>
                </a:r>
                <a14:m>
                  <m:oMath xmlns:m="http://schemas.openxmlformats.org/officeDocument/2006/math">
                    <m:r>
                      <a:rPr lang="en-US" altLang="zh-CN" i="1" dirty="0" smtClean="0">
                        <a:latin typeface="Cambria Math" panose="02040503050406030204" pitchFamily="18" charset="0"/>
                      </a:rPr>
                      <m:t>𝑡</m:t>
                    </m:r>
                  </m:oMath>
                </a14:m>
                <a:r>
                  <a:rPr lang="zh-CN" altLang="en-US" dirty="0"/>
                  <a:t>的感染人数</a:t>
                </a:r>
                <a14:m>
                  <m:oMath xmlns:m="http://schemas.openxmlformats.org/officeDocument/2006/math">
                    <m:r>
                      <a:rPr lang="en-US" altLang="zh-CN" i="1" dirty="0" smtClean="0">
                        <a:latin typeface="Cambria Math" panose="02040503050406030204" pitchFamily="18" charset="0"/>
                      </a:rPr>
                      <m:t>𝐼</m:t>
                    </m:r>
                    <m:d>
                      <m:dPr>
                        <m:ctrlPr>
                          <a:rPr lang="en-US" altLang="zh-CN" i="1" dirty="0" smtClean="0">
                            <a:latin typeface="Cambria Math" panose="02040503050406030204" pitchFamily="18" charset="0"/>
                          </a:rPr>
                        </m:ctrlPr>
                      </m:dPr>
                      <m:e>
                        <m:r>
                          <a:rPr lang="en-US" altLang="zh-CN" i="1" dirty="0" smtClean="0">
                            <a:latin typeface="Cambria Math" panose="02040503050406030204" pitchFamily="18" charset="0"/>
                          </a:rPr>
                          <m:t>𝑡</m:t>
                        </m:r>
                      </m:e>
                    </m:d>
                  </m:oMath>
                </a14:m>
                <a:r>
                  <a:rPr lang="zh-CN" altLang="en-US" dirty="0"/>
                  <a:t>进行估计，</a:t>
                </a:r>
                <a:r>
                  <a:rPr lang="zh-CN" altLang="en-US" b="1" dirty="0">
                    <a:solidFill>
                      <a:srgbClr val="0070C0"/>
                    </a:solidFill>
                  </a:rPr>
                  <a:t>并计算插值的误差</a:t>
                </a:r>
                <a:r>
                  <a:rPr lang="zh-CN" altLang="en-US" dirty="0"/>
                  <a:t>（包括方法误差、舍入误差）</a:t>
                </a:r>
                <a:endParaRPr lang="en-US" altLang="zh-CN" dirty="0"/>
              </a:p>
              <a:p>
                <a:endParaRPr lang="en-US" altLang="zh-CN" dirty="0"/>
              </a:p>
              <a:p>
                <a:r>
                  <a:rPr lang="zh-CN" altLang="en-US" dirty="0"/>
                  <a:t>计算 </a:t>
                </a:r>
                <a:r>
                  <a:rPr lang="en-US" altLang="zh-CN" dirty="0"/>
                  <a:t>[0,</a:t>
                </a:r>
                <a:r>
                  <a:rPr lang="zh-CN" altLang="en-US" dirty="0"/>
                  <a:t> </a:t>
                </a:r>
                <a:r>
                  <a:rPr lang="en-US" altLang="zh-CN" dirty="0"/>
                  <a:t>15</a:t>
                </a:r>
                <a:r>
                  <a:rPr lang="zh-CN" altLang="en-US" dirty="0"/>
                  <a:t>）上以 </a:t>
                </a:r>
                <a:r>
                  <a:rPr lang="en-US" altLang="zh-CN" dirty="0"/>
                  <a:t>0.1</a:t>
                </a:r>
                <a:r>
                  <a:rPr lang="zh-CN" altLang="en-US" dirty="0"/>
                  <a:t> 为间隔的取样点处插值结果和精确结果的差值的最大值，并与理论误差界比较。</a:t>
                </a:r>
                <a:endParaRPr lang="en-US" altLang="zh-CN" dirty="0"/>
              </a:p>
              <a:p>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1"/>
                <a:stretch>
                  <a:fillRect l="-844" t="-2924" r="-603"/>
                </a:stretch>
              </a:blipFill>
            </p:spPr>
            <p:txBody>
              <a:bodyPr/>
              <a:lstStyle/>
              <a:p>
                <a:r>
                  <a:rPr lang="zh-CN" altLang="en-US">
                    <a:noFill/>
                  </a:rPr>
                  <a:t> </a:t>
                </a:r>
                <a:endParaRPr lang="zh-CN" altLang="en-US">
                  <a:noFill/>
                </a:endParaRP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a:extLst>
                  <a:ext uri="{FF2B5EF4-FFF2-40B4-BE49-F238E27FC236}">
                    <ele attr="{7F9E035E-54CF-45D4-8BB4-0762FA420F8B}"/>
                  </a:ext>
                </a:extLst>
              </p:cNvPr>
              <p:cNvSpPr>
                <a:spLocks noGrp="1"/>
              </p:cNvSpPr>
              <p:nvPr>
                <p:ph idx="1"/>
              </p:nvPr>
            </p:nvSpPr>
            <p:spPr>
              <a:xfrm>
                <a:off x="838200" y="488272"/>
                <a:ext cx="10515600" cy="5688691"/>
              </a:xfrm>
            </p:spPr>
            <p:txBody>
              <a:bodyPr/>
              <a:lstStyle/>
              <a:p>
                <a:r>
                  <a:rPr lang="zh-CN" altLang="en-US" dirty="0"/>
                  <a:t>重要提示：</a:t>
                </a:r>
                <a:endParaRPr lang="en-US" altLang="zh-CN" dirty="0"/>
              </a:p>
              <a:p>
                <a:pPr lvl="1"/>
                <a:r>
                  <a:rPr lang="en-US" altLang="zh-CN" dirty="0"/>
                  <a:t>LUT.csv </a:t>
                </a:r>
                <a:r>
                  <a:rPr lang="zh-CN" altLang="en-US" dirty="0"/>
                  <a:t>中的</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𝐼</m:t>
                        </m:r>
                      </m:e>
                      <m:sub>
                        <m:r>
                          <a:rPr lang="en-US" altLang="zh-CN" b="0" i="1" dirty="0" smtClean="0">
                            <a:latin typeface="Cambria Math" panose="02040503050406030204" pitchFamily="18" charset="0"/>
                          </a:rPr>
                          <m:t>𝑘</m:t>
                        </m:r>
                      </m:sub>
                    </m:sSub>
                  </m:oMath>
                </a14:m>
                <a:r>
                  <a:rPr lang="zh-CN" altLang="en-US" dirty="0"/>
                  <a:t>是精确到小数点后五位的，需要考虑这一过程的舍入误差</a:t>
                </a:r>
                <a:endParaRPr lang="en-US" altLang="zh-CN" dirty="0"/>
              </a:p>
              <a:p>
                <a:pPr lvl="1"/>
                <a:r>
                  <a:rPr lang="zh-CN" altLang="en-US" dirty="0"/>
                  <a:t>不需要考虑</a:t>
                </a:r>
                <a14:m>
                  <m:oMath xmlns:m="http://schemas.openxmlformats.org/officeDocument/2006/math">
                    <m:sSub>
                      <m:sSubPr>
                        <m:ctrlPr>
                          <a:rPr lang="en-US" altLang="zh-CN" i="1" dirty="0" smtClean="0">
                            <a:latin typeface="Cambria Math" panose="02040503050406030204" pitchFamily="18" charset="0"/>
                          </a:rPr>
                        </m:ctrlPr>
                      </m:sSubPr>
                      <m:e>
                        <m:r>
                          <a:rPr lang="en-US" altLang="zh-CN" i="1" dirty="0" smtClean="0">
                            <a:latin typeface="Cambria Math" panose="02040503050406030204" pitchFamily="18" charset="0"/>
                          </a:rPr>
                          <m:t>𝑡</m:t>
                        </m:r>
                      </m:e>
                      <m:sub>
                        <m:r>
                          <a:rPr lang="en-US" altLang="zh-CN" i="1" dirty="0" smtClean="0">
                            <a:latin typeface="Cambria Math" panose="02040503050406030204" pitchFamily="18" charset="0"/>
                          </a:rPr>
                          <m:t>𝑘</m:t>
                        </m:r>
                      </m:sub>
                    </m:sSub>
                  </m:oMath>
                </a14:m>
                <a:r>
                  <a:rPr lang="zh-CN" altLang="en-US" dirty="0"/>
                  <a:t>本身的误差，以及给定的任意时间</a:t>
                </a:r>
                <a14:m>
                  <m:oMath xmlns:m="http://schemas.openxmlformats.org/officeDocument/2006/math">
                    <m:r>
                      <a:rPr lang="en-US" altLang="zh-CN" b="0" i="1" dirty="0" smtClean="0">
                        <a:latin typeface="Cambria Math" panose="02040503050406030204" pitchFamily="18" charset="0"/>
                      </a:rPr>
                      <m:t>𝑡</m:t>
                    </m:r>
                    <m:r>
                      <a:rPr lang="zh-CN" altLang="en-US" i="1" dirty="0">
                        <a:latin typeface="Cambria Math" panose="02040503050406030204" pitchFamily="18" charset="0"/>
                      </a:rPr>
                      <m:t>的</m:t>
                    </m:r>
                  </m:oMath>
                </a14:m>
                <a:r>
                  <a:rPr lang="zh-CN" altLang="en-US" dirty="0"/>
                  <a:t>误差</a:t>
                </a:r>
                <a:endParaRPr lang="en-US" altLang="zh-CN" dirty="0"/>
              </a:p>
              <a:p>
                <a:pPr lvl="1"/>
                <a:r>
                  <a:rPr lang="zh-CN" altLang="en-US" dirty="0"/>
                  <a:t>在本题中误差分析报告中，请给出严谨的推导过程</a:t>
                </a:r>
                <a:endParaRPr lang="en-US" altLang="zh-CN"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838200" y="488272"/>
                <a:ext cx="10515600" cy="5688691"/>
              </a:xfrm>
              <a:blipFill rotWithShape="1">
                <a:blip r:embed="rId1"/>
                <a:stretch>
                  <a:fillRect l="-965" t="-1559"/>
                </a:stretch>
              </a:blipFill>
            </p:spPr>
            <p:txBody>
              <a:bodyPr/>
              <a:lstStyle/>
              <a:p>
                <a:r>
                  <a:rPr lang="zh-CN" altLang="en-US">
                    <a:noFill/>
                  </a:rPr>
                  <a:t> </a:t>
                </a:r>
                <a:endParaRPr lang="zh-CN" altLang="en-US">
                  <a:noFill/>
                </a:endParaRP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4.</a:t>
            </a:r>
            <a:r>
              <a:rPr lang="zh-CN" altLang="en-US" b="1" dirty="0"/>
              <a:t>逼近法绘制</a:t>
            </a:r>
            <a:r>
              <a:rPr lang="en-US" altLang="zh-CN" b="1" dirty="0"/>
              <a:t>SI</a:t>
            </a:r>
            <a:r>
              <a:rPr lang="zh-CN" altLang="en-US" b="1" dirty="0"/>
              <a:t>模型简化曲线</a:t>
            </a:r>
            <a:endParaRPr lang="zh-CN" altLang="en-US" b="1" dirty="0"/>
          </a:p>
        </p:txBody>
      </p:sp>
      <mc:AlternateContent xmlns:mc="http://schemas.openxmlformats.org/markup-compatibility/2006">
        <mc:Choice xmlns:a14="http://schemas.microsoft.com/office/drawing/2010/main" Requires="a14">
          <p:sp>
            <p:nvSpPr>
              <p:cNvPr id="3" name="内容占位符 2">
                <a:extLst>
                  <a:ext uri="{FF2B5EF4-FFF2-40B4-BE49-F238E27FC236}">
                    <ele attr="{12EB3AD3-645A-42E0-A5E8-DB4DF2B66B12}"/>
                  </a:ext>
                </a:extLst>
              </p:cNvPr>
              <p:cNvSpPr>
                <a:spLocks noGrp="1"/>
              </p:cNvSpPr>
              <p:nvPr>
                <p:ph idx="1"/>
              </p:nvPr>
            </p:nvSpPr>
            <p:spPr/>
            <p:txBody>
              <a:bodyPr>
                <a:normAutofit/>
              </a:bodyPr>
              <a:lstStyle/>
              <a:p>
                <a:r>
                  <a:rPr lang="zh-CN" altLang="en-US" dirty="0"/>
                  <a:t> </a:t>
                </a:r>
                <a:r>
                  <a:rPr lang="en-US" altLang="zh-CN" dirty="0"/>
                  <a:t>SI</a:t>
                </a:r>
                <a:r>
                  <a:rPr lang="zh-CN" altLang="en-US" dirty="0"/>
                  <a:t>模型中包括了</a:t>
                </a:r>
                <a14:m>
                  <m:oMath xmlns:m="http://schemas.openxmlformats.org/officeDocument/2006/math">
                    <m:r>
                      <a:rPr lang="en-US" altLang="zh-CN" i="1" dirty="0" smtClean="0">
                        <a:latin typeface="Cambria Math" panose="02040503050406030204" pitchFamily="18" charset="0"/>
                      </a:rPr>
                      <m:t>𝑒</m:t>
                    </m:r>
                  </m:oMath>
                </a14:m>
                <a:r>
                  <a:rPr lang="zh-CN" altLang="en-US" dirty="0"/>
                  <a:t>的指数项，不便于计算</a:t>
                </a:r>
                <a:endParaRPr lang="en-US" altLang="zh-CN" dirty="0"/>
              </a:p>
              <a:p>
                <a:endParaRPr lang="en-US" altLang="zh-CN" dirty="0"/>
              </a:p>
              <a:p>
                <a:r>
                  <a:rPr lang="zh-CN" altLang="en-US" dirty="0"/>
                  <a:t>请设计一种算法，用</a:t>
                </a:r>
                <a:r>
                  <a:rPr lang="zh-CN" altLang="en-US" b="1" dirty="0">
                    <a:solidFill>
                      <a:srgbClr val="0070C0"/>
                    </a:solidFill>
                  </a:rPr>
                  <a:t>仅包含四则运算</a:t>
                </a:r>
                <a:r>
                  <a:rPr lang="zh-CN" altLang="en-US" dirty="0"/>
                  <a:t>的函数</a:t>
                </a:r>
                <a14:m>
                  <m:oMath xmlns:m="http://schemas.openxmlformats.org/officeDocument/2006/math">
                    <m:r>
                      <a:rPr lang="en-US" altLang="zh-CN" i="1" dirty="0" smtClean="0">
                        <a:latin typeface="Cambria Math" panose="02040503050406030204" pitchFamily="18" charset="0"/>
                      </a:rPr>
                      <m:t>𝐻</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m:t>
                    </m:r>
                  </m:oMath>
                </a14:m>
                <a:r>
                  <a:rPr lang="zh-CN" altLang="en-US" dirty="0"/>
                  <a:t>来逼近</a:t>
                </a:r>
                <a:r>
                  <a:rPr lang="en-US" altLang="zh-CN" dirty="0"/>
                  <a:t>SI</a:t>
                </a:r>
                <a:r>
                  <a:rPr lang="zh-CN" altLang="en-US" dirty="0"/>
                  <a:t>模型，并要求</a:t>
                </a:r>
                <a14:m>
                  <m:oMath xmlns:m="http://schemas.openxmlformats.org/officeDocument/2006/math">
                    <m:r>
                      <a:rPr lang="en-US" altLang="zh-CN" i="1" dirty="0" smtClean="0">
                        <a:latin typeface="Cambria Math" panose="02040503050406030204" pitchFamily="18" charset="0"/>
                      </a:rPr>
                      <m:t>𝐻</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m:t>
                    </m:r>
                  </m:oMath>
                </a14:m>
                <a:r>
                  <a:rPr lang="zh-CN" altLang="en-US" dirty="0">
                    <a:solidFill>
                      <a:schemeClr val="tx1"/>
                    </a:solidFill>
                  </a:rPr>
                  <a:t>在区间</a:t>
                </a:r>
                <a14:m>
                  <m:oMath xmlns:m="http://schemas.openxmlformats.org/officeDocument/2006/math">
                    <m:r>
                      <a:rPr lang="en-US" altLang="zh-CN" i="1" dirty="0" smtClean="0">
                        <a:solidFill>
                          <a:schemeClr val="tx1"/>
                        </a:solidFill>
                        <a:latin typeface="Cambria Math" panose="02040503050406030204" pitchFamily="18" charset="0"/>
                      </a:rPr>
                      <m:t>[0,</m:t>
                    </m:r>
                    <m:r>
                      <a:rPr lang="zh-CN" altLang="en-US" b="0" i="1" dirty="0" smtClean="0">
                        <a:solidFill>
                          <a:schemeClr val="tx1"/>
                        </a:solidFill>
                        <a:latin typeface="Cambria Math" panose="02040503050406030204" pitchFamily="18" charset="0"/>
                      </a:rPr>
                      <m:t> </m:t>
                    </m:r>
                    <m:r>
                      <a:rPr lang="en-US" altLang="zh-CN" i="1" dirty="0" smtClean="0">
                        <a:solidFill>
                          <a:schemeClr val="tx1"/>
                        </a:solidFill>
                        <a:latin typeface="Cambria Math" panose="02040503050406030204" pitchFamily="18" charset="0"/>
                      </a:rPr>
                      <m:t>10]</m:t>
                    </m:r>
                  </m:oMath>
                </a14:m>
                <a:r>
                  <a:rPr lang="zh-CN" altLang="en-US" dirty="0">
                    <a:solidFill>
                      <a:schemeClr val="tx1"/>
                    </a:solidFill>
                  </a:rPr>
                  <a:t>上二范数误差小于给定的误差限</a:t>
                </a:r>
                <a14:m>
                  <m:oMath xmlns:m="http://schemas.openxmlformats.org/officeDocument/2006/math">
                    <m:r>
                      <a:rPr lang="en-US" altLang="zh-CN" b="0" i="1" smtClean="0">
                        <a:solidFill>
                          <a:schemeClr val="tx1"/>
                        </a:solidFill>
                        <a:latin typeface="Cambria Math" panose="02040503050406030204" pitchFamily="18" charset="0"/>
                      </a:rPr>
                      <m:t>𝑏</m:t>
                    </m:r>
                  </m:oMath>
                </a14:m>
                <a:r>
                  <a:rPr lang="zh-CN" altLang="en-US" dirty="0">
                    <a:solidFill>
                      <a:schemeClr val="tx1"/>
                    </a:solidFill>
                  </a:rPr>
                  <a:t>（即</a:t>
                </a:r>
                <a14:m>
                  <m:oMath xmlns:m="http://schemas.openxmlformats.org/officeDocument/2006/math">
                    <m:sSub>
                      <m:sSubPr>
                        <m:ctrlPr>
                          <a:rPr lang="en-US" altLang="zh-CN" i="1" dirty="0" smtClean="0">
                            <a:solidFill>
                              <a:schemeClr val="tx1"/>
                            </a:solidFill>
                            <a:latin typeface="Cambria Math" panose="02040503050406030204" pitchFamily="18" charset="0"/>
                          </a:rPr>
                        </m:ctrlPr>
                      </m:sSubPr>
                      <m:e>
                        <m:d>
                          <m:dPr>
                            <m:begChr m:val="|"/>
                            <m:endChr m:val="|"/>
                            <m:ctrlPr>
                              <a:rPr lang="en-US" altLang="zh-CN" i="1" dirty="0" smtClean="0">
                                <a:solidFill>
                                  <a:schemeClr val="tx1"/>
                                </a:solidFill>
                                <a:latin typeface="Cambria Math" panose="02040503050406030204" pitchFamily="18" charset="0"/>
                              </a:rPr>
                            </m:ctrlPr>
                          </m:dPr>
                          <m:e>
                            <m:d>
                              <m:dPr>
                                <m:begChr m:val="|"/>
                                <m:endChr m:val="|"/>
                                <m:ctrlPr>
                                  <a:rPr lang="en-US" altLang="zh-CN" i="1" dirty="0" smtClean="0">
                                    <a:solidFill>
                                      <a:schemeClr val="tx1"/>
                                    </a:solidFill>
                                    <a:latin typeface="Cambria Math" panose="02040503050406030204" pitchFamily="18" charset="0"/>
                                  </a:rPr>
                                </m:ctrlPr>
                              </m:dPr>
                              <m:e>
                                <m:r>
                                  <a:rPr lang="en-US" altLang="zh-CN" b="0" i="1" dirty="0" smtClean="0">
                                    <a:solidFill>
                                      <a:schemeClr val="tx1"/>
                                    </a:solidFill>
                                    <a:latin typeface="Cambria Math" panose="02040503050406030204" pitchFamily="18" charset="0"/>
                                  </a:rPr>
                                  <m:t>𝐻</m:t>
                                </m:r>
                                <m:d>
                                  <m:dPr>
                                    <m:ctrlPr>
                                      <a:rPr lang="en-US" altLang="zh-CN" i="1" dirty="0" smtClean="0">
                                        <a:solidFill>
                                          <a:schemeClr val="tx1"/>
                                        </a:solidFill>
                                        <a:latin typeface="Cambria Math" panose="02040503050406030204" pitchFamily="18" charset="0"/>
                                      </a:rPr>
                                    </m:ctrlPr>
                                  </m:dPr>
                                  <m:e>
                                    <m:r>
                                      <a:rPr lang="en-US" altLang="zh-CN" b="0" i="1" dirty="0" smtClean="0">
                                        <a:solidFill>
                                          <a:schemeClr val="tx1"/>
                                        </a:solidFill>
                                        <a:latin typeface="Cambria Math" panose="02040503050406030204" pitchFamily="18" charset="0"/>
                                      </a:rPr>
                                      <m:t>𝑡</m:t>
                                    </m:r>
                                  </m:e>
                                </m:d>
                                <m:r>
                                  <a:rPr lang="en-US" altLang="zh-CN" b="0" i="1" dirty="0" smtClean="0">
                                    <a:solidFill>
                                      <a:schemeClr val="tx1"/>
                                    </a:solidFill>
                                    <a:latin typeface="Cambria Math" panose="02040503050406030204" pitchFamily="18" charset="0"/>
                                  </a:rPr>
                                  <m:t>−</m:t>
                                </m:r>
                                <m:r>
                                  <a:rPr lang="en-US" altLang="zh-CN" b="0" i="1" dirty="0" smtClean="0">
                                    <a:solidFill>
                                      <a:schemeClr val="tx1"/>
                                    </a:solidFill>
                                    <a:latin typeface="Cambria Math" panose="02040503050406030204" pitchFamily="18" charset="0"/>
                                  </a:rPr>
                                  <m:t>𝐼</m:t>
                                </m:r>
                                <m:d>
                                  <m:dPr>
                                    <m:ctrlPr>
                                      <a:rPr lang="en-US" altLang="zh-CN" i="1" dirty="0" smtClean="0">
                                        <a:solidFill>
                                          <a:schemeClr val="tx1"/>
                                        </a:solidFill>
                                        <a:latin typeface="Cambria Math" panose="02040503050406030204" pitchFamily="18" charset="0"/>
                                      </a:rPr>
                                    </m:ctrlPr>
                                  </m:dPr>
                                  <m:e>
                                    <m:r>
                                      <a:rPr lang="en-US" altLang="zh-CN" b="0" i="1" dirty="0" smtClean="0">
                                        <a:solidFill>
                                          <a:schemeClr val="tx1"/>
                                        </a:solidFill>
                                        <a:latin typeface="Cambria Math" panose="02040503050406030204" pitchFamily="18" charset="0"/>
                                      </a:rPr>
                                      <m:t>𝑡</m:t>
                                    </m:r>
                                  </m:e>
                                </m:d>
                              </m:e>
                            </m:d>
                          </m:e>
                        </m:d>
                      </m:e>
                      <m:sub>
                        <m:r>
                          <a:rPr lang="en-US" altLang="zh-CN" b="0" i="1" dirty="0" smtClean="0">
                            <a:solidFill>
                              <a:schemeClr val="tx1"/>
                            </a:solidFill>
                            <a:latin typeface="Cambria Math" panose="02040503050406030204" pitchFamily="18" charset="0"/>
                          </a:rPr>
                          <m:t>2</m:t>
                        </m:r>
                      </m:sub>
                    </m:sSub>
                    <m:r>
                      <a:rPr lang="en-US" altLang="zh-CN" b="0" i="1" dirty="0" smtClean="0">
                        <a:solidFill>
                          <a:schemeClr val="tx1"/>
                        </a:solidFill>
                        <a:latin typeface="Cambria Math" panose="02040503050406030204" pitchFamily="18" charset="0"/>
                      </a:rPr>
                      <m:t>≤</m:t>
                    </m:r>
                    <m:r>
                      <a:rPr lang="en-US" altLang="zh-CN" b="0" i="1" dirty="0" smtClean="0">
                        <a:solidFill>
                          <a:schemeClr val="tx1"/>
                        </a:solidFill>
                        <a:latin typeface="Cambria Math" panose="02040503050406030204" pitchFamily="18" charset="0"/>
                      </a:rPr>
                      <m:t>𝑏</m:t>
                    </m:r>
                  </m:oMath>
                </a14:m>
                <a:r>
                  <a:rPr lang="en-US" altLang="zh-CN" dirty="0">
                    <a:solidFill>
                      <a:schemeClr val="tx1"/>
                    </a:solidFill>
                  </a:rPr>
                  <a:t>,</a:t>
                </a:r>
                <a:r>
                  <a:rPr lang="zh-CN" altLang="en-US" dirty="0">
                    <a:solidFill>
                      <a:schemeClr val="tx1"/>
                    </a:solidFill>
                  </a:rPr>
                  <a:t> 其中 </a:t>
                </a:r>
                <a14:m>
                  <m:oMath xmlns:m="http://schemas.openxmlformats.org/officeDocument/2006/math">
                    <m:r>
                      <a:rPr lang="en-US" altLang="zh-CN" b="0" i="1" smtClean="0">
                        <a:solidFill>
                          <a:schemeClr val="tx1"/>
                        </a:solidFill>
                        <a:latin typeface="Cambria Math" panose="02040503050406030204" pitchFamily="18" charset="0"/>
                      </a:rPr>
                      <m:t>𝑏</m:t>
                    </m:r>
                    <m:r>
                      <a:rPr lang="en-US" altLang="zh-CN" b="0" i="1" smtClean="0">
                        <a:solidFill>
                          <a:schemeClr val="tx1"/>
                        </a:solidFill>
                        <a:latin typeface="Cambria Math" panose="02040503050406030204" pitchFamily="18" charset="0"/>
                      </a:rPr>
                      <m:t>∈</m:t>
                    </m:r>
                    <m:d>
                      <m:dPr>
                        <m:begChr m:val="["/>
                        <m:endChr m:val="]"/>
                        <m:ctrlPr>
                          <a:rPr lang="en-US" altLang="zh-CN" b="0" i="1" smtClean="0">
                            <a:solidFill>
                              <a:schemeClr val="tx1"/>
                            </a:solidFill>
                            <a:latin typeface="Cambria Math" panose="02040503050406030204" pitchFamily="18" charset="0"/>
                          </a:rPr>
                        </m:ctrlPr>
                      </m:dPr>
                      <m:e>
                        <m:sSup>
                          <m:sSupPr>
                            <m:ctrlPr>
                              <a:rPr lang="en-US" altLang="zh-CN" b="0" i="1" smtClean="0">
                                <a:solidFill>
                                  <a:schemeClr val="tx1"/>
                                </a:solidFill>
                                <a:latin typeface="Cambria Math" panose="02040503050406030204" pitchFamily="18" charset="0"/>
                              </a:rPr>
                            </m:ctrlPr>
                          </m:sSupPr>
                          <m:e>
                            <m:r>
                              <a:rPr lang="en-US" altLang="zh-CN" b="0" i="1" smtClean="0">
                                <a:solidFill>
                                  <a:schemeClr val="tx1"/>
                                </a:solidFill>
                                <a:latin typeface="Cambria Math" panose="02040503050406030204" pitchFamily="18" charset="0"/>
                              </a:rPr>
                              <m:t>10</m:t>
                            </m:r>
                          </m:e>
                          <m:sup>
                            <m:r>
                              <a:rPr lang="en-US" altLang="zh-CN" b="0" i="1" smtClean="0">
                                <a:solidFill>
                                  <a:schemeClr val="tx1"/>
                                </a:solidFill>
                                <a:latin typeface="Cambria Math" panose="02040503050406030204" pitchFamily="18" charset="0"/>
                              </a:rPr>
                              <m:t>−3</m:t>
                            </m:r>
                          </m:sup>
                        </m:sSup>
                        <m:r>
                          <a:rPr lang="en-US" altLang="zh-CN" b="0" i="1" smtClean="0">
                            <a:solidFill>
                              <a:schemeClr val="tx1"/>
                            </a:solidFill>
                            <a:latin typeface="Cambria Math" panose="02040503050406030204" pitchFamily="18" charset="0"/>
                          </a:rPr>
                          <m:t>,</m:t>
                        </m:r>
                        <m:r>
                          <a:rPr lang="zh-CN" altLang="en-US" b="0" i="1" smtClean="0">
                            <a:solidFill>
                              <a:schemeClr val="tx1"/>
                            </a:solidFill>
                            <a:latin typeface="Cambria Math" panose="02040503050406030204" pitchFamily="18" charset="0"/>
                          </a:rPr>
                          <m:t> </m:t>
                        </m:r>
                        <m:sSup>
                          <m:sSupPr>
                            <m:ctrlPr>
                              <a:rPr lang="en-US" altLang="zh-CN" b="0" i="1" smtClean="0">
                                <a:solidFill>
                                  <a:schemeClr val="tx1"/>
                                </a:solidFill>
                                <a:latin typeface="Cambria Math" panose="02040503050406030204" pitchFamily="18" charset="0"/>
                              </a:rPr>
                            </m:ctrlPr>
                          </m:sSupPr>
                          <m:e>
                            <m:r>
                              <a:rPr lang="en-US" altLang="zh-CN" b="0" i="1" smtClean="0">
                                <a:solidFill>
                                  <a:schemeClr val="tx1"/>
                                </a:solidFill>
                                <a:latin typeface="Cambria Math" panose="02040503050406030204" pitchFamily="18" charset="0"/>
                              </a:rPr>
                              <m:t>10</m:t>
                            </m:r>
                          </m:e>
                          <m:sup>
                            <m:r>
                              <a:rPr lang="en-US" altLang="zh-CN" b="0" i="1" smtClean="0">
                                <a:solidFill>
                                  <a:schemeClr val="tx1"/>
                                </a:solidFill>
                                <a:latin typeface="Cambria Math" panose="02040503050406030204" pitchFamily="18" charset="0"/>
                              </a:rPr>
                              <m:t>3</m:t>
                            </m:r>
                          </m:sup>
                        </m:sSup>
                      </m:e>
                    </m:d>
                  </m:oMath>
                </a14:m>
                <a:endParaRPr lang="en-US" altLang="zh-CN" b="0" dirty="0">
                  <a:solidFill>
                    <a:schemeClr val="tx1"/>
                  </a:solidFill>
                </a:endParaRPr>
              </a:p>
              <a:p>
                <a:endParaRPr lang="en-US" altLang="zh-CN" b="0" dirty="0">
                  <a:solidFill>
                    <a:schemeClr val="tx1"/>
                  </a:solidFill>
                </a:endParaRPr>
              </a:p>
              <a:p>
                <a:r>
                  <a:rPr lang="zh-CN" altLang="en-US" dirty="0">
                    <a:solidFill>
                      <a:schemeClr val="tx1"/>
                    </a:solidFill>
                  </a:rPr>
                  <a:t>写出</a:t>
                </a:r>
                <a14:m>
                  <m:oMath xmlns:m="http://schemas.openxmlformats.org/officeDocument/2006/math">
                    <m:r>
                      <a:rPr lang="en-US" altLang="zh-CN" b="0" i="1" smtClean="0">
                        <a:solidFill>
                          <a:schemeClr val="tx1"/>
                        </a:solidFill>
                        <a:latin typeface="Cambria Math" panose="02040503050406030204" pitchFamily="18" charset="0"/>
                      </a:rPr>
                      <m:t>𝑏</m:t>
                    </m:r>
                    <m:r>
                      <a:rPr lang="en-US" altLang="zh-CN" b="0" i="1" smtClean="0">
                        <a:solidFill>
                          <a:schemeClr val="tx1"/>
                        </a:solidFill>
                        <a:latin typeface="Cambria Math" panose="02040503050406030204" pitchFamily="18" charset="0"/>
                      </a:rPr>
                      <m:t>=10</m:t>
                    </m:r>
                  </m:oMath>
                </a14:m>
                <a:r>
                  <a:rPr lang="zh-CN" altLang="en-US" dirty="0">
                    <a:solidFill>
                      <a:schemeClr val="tx1"/>
                    </a:solidFill>
                  </a:rPr>
                  <a:t>时</a:t>
                </a:r>
                <a14:m>
                  <m:oMath xmlns:m="http://schemas.openxmlformats.org/officeDocument/2006/math">
                    <m:r>
                      <a:rPr lang="en-US" altLang="zh-CN" b="0" i="1" dirty="0" smtClean="0">
                        <a:solidFill>
                          <a:schemeClr val="tx1"/>
                        </a:solidFill>
                        <a:latin typeface="Cambria Math" panose="02040503050406030204" pitchFamily="18" charset="0"/>
                      </a:rPr>
                      <m:t>𝐻</m:t>
                    </m:r>
                    <m:d>
                      <m:dPr>
                        <m:ctrlPr>
                          <a:rPr lang="en-US" altLang="zh-CN" b="0" i="1" dirty="0" smtClean="0">
                            <a:solidFill>
                              <a:schemeClr val="tx1"/>
                            </a:solidFill>
                            <a:latin typeface="Cambria Math" panose="02040503050406030204" pitchFamily="18" charset="0"/>
                          </a:rPr>
                        </m:ctrlPr>
                      </m:dPr>
                      <m:e>
                        <m:r>
                          <a:rPr lang="en-US" altLang="zh-CN" b="0" i="1" dirty="0" smtClean="0">
                            <a:solidFill>
                              <a:schemeClr val="tx1"/>
                            </a:solidFill>
                            <a:latin typeface="Cambria Math" panose="02040503050406030204" pitchFamily="18" charset="0"/>
                          </a:rPr>
                          <m:t>𝑡</m:t>
                        </m:r>
                      </m:e>
                    </m:d>
                  </m:oMath>
                </a14:m>
                <a:r>
                  <a:rPr lang="zh-CN" altLang="en-US" dirty="0">
                    <a:solidFill>
                      <a:schemeClr val="tx1"/>
                    </a:solidFill>
                  </a:rPr>
                  <a:t>的表达式，</a:t>
                </a:r>
                <a:r>
                  <a:rPr lang="zh-CN" altLang="en-US" dirty="0"/>
                  <a:t>并绘制出</a:t>
                </a:r>
                <a14:m>
                  <m:oMath xmlns:m="http://schemas.openxmlformats.org/officeDocument/2006/math">
                    <m:r>
                      <a:rPr lang="en-US" altLang="zh-CN" i="1" dirty="0" smtClean="0">
                        <a:latin typeface="Cambria Math" panose="02040503050406030204" pitchFamily="18" charset="0"/>
                      </a:rPr>
                      <m:t>𝐻</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m:t>
                    </m:r>
                  </m:oMath>
                </a14:m>
                <a:r>
                  <a:rPr lang="zh-CN" altLang="en-US" dirty="0"/>
                  <a:t>和</a:t>
                </a:r>
                <a14:m>
                  <m:oMath xmlns:m="http://schemas.openxmlformats.org/officeDocument/2006/math">
                    <m:r>
                      <a:rPr lang="en-US" altLang="zh-CN" i="1" dirty="0" smtClean="0">
                        <a:latin typeface="Cambria Math" panose="02040503050406030204" pitchFamily="18" charset="0"/>
                      </a:rPr>
                      <m:t>𝐼</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𝑡</m:t>
                    </m:r>
                    <m:r>
                      <a:rPr lang="en-US" altLang="zh-CN" i="1" dirty="0" smtClean="0">
                        <a:latin typeface="Cambria Math" panose="02040503050406030204" pitchFamily="18" charset="0"/>
                      </a:rPr>
                      <m:t>)</m:t>
                    </m:r>
                  </m:oMath>
                </a14:m>
                <a:r>
                  <a:rPr lang="zh-CN" altLang="en-US" dirty="0"/>
                  <a:t>在</a:t>
                </a:r>
                <a14:m>
                  <m:oMath xmlns:m="http://schemas.openxmlformats.org/officeDocument/2006/math">
                    <m:r>
                      <a:rPr lang="en-US" altLang="zh-CN" i="1" dirty="0" smtClean="0">
                        <a:latin typeface="Cambria Math" panose="02040503050406030204" pitchFamily="18" charset="0"/>
                      </a:rPr>
                      <m:t>𝑡</m:t>
                    </m:r>
                    <m:r>
                      <a:rPr lang="en-US" altLang="zh-CN" i="1" dirty="0" smtClean="0">
                        <a:latin typeface="Cambria Math" panose="02040503050406030204" pitchFamily="18" charset="0"/>
                      </a:rPr>
                      <m:t>∈[0, 10]</m:t>
                    </m:r>
                  </m:oMath>
                </a14:m>
                <a:r>
                  <a:rPr lang="zh-CN" altLang="en-US" dirty="0"/>
                  <a:t>上的曲线加以比较</a:t>
                </a:r>
              </a:p>
            </p:txBody>
          </p:sp>
        </mc:Choice>
        <mc:Fallback>
          <p:sp>
            <p:nvSpPr>
              <p:cNvPr id="3" name="内容占位符 2"/>
              <p:cNvSpPr>
                <a:spLocks noGrp="1" noRot="1" noChangeAspect="1" noMove="1" noResize="1" noEditPoints="1" noAdjustHandles="1" noChangeArrowheads="1" noChangeShapeType="1" noTextEdit="1"/>
              </p:cNvSpPr>
              <p:nvPr>
                <p:ph idx="1"/>
              </p:nvPr>
            </p:nvSpPr>
            <p:spPr>
              <a:blipFill rotWithShape="1">
                <a:blip r:embed="rId1"/>
                <a:stretch>
                  <a:fillRect l="-965" t="-2632"/>
                </a:stretch>
              </a:blipFill>
            </p:spPr>
            <p:txBody>
              <a:bodyPr/>
              <a:lstStyle/>
              <a:p>
                <a:r>
                  <a:rPr lang="zh-CN" altLang="en-US">
                    <a:noFill/>
                  </a:rPr>
                  <a:t> </a:t>
                </a:r>
                <a:endParaRPr lang="zh-CN" altLang="en-US">
                  <a:noFill/>
                </a:endParaRP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a:extLst>
                  <a:ext uri="{FF2B5EF4-FFF2-40B4-BE49-F238E27FC236}">
                    <ele attr="{CD11C87E-4B03-43E7-9315-971CE413981D}"/>
                  </a:ext>
                </a:extLst>
              </p:cNvPr>
              <p:cNvSpPr>
                <a:spLocks noGrp="1"/>
              </p:cNvSpPr>
              <p:nvPr>
                <p:ph idx="1"/>
              </p:nvPr>
            </p:nvSpPr>
            <p:spPr>
              <a:xfrm>
                <a:off x="838200" y="337351"/>
                <a:ext cx="10515600" cy="5839612"/>
              </a:xfrm>
            </p:spPr>
            <p:txBody>
              <a:bodyPr/>
              <a:lstStyle/>
              <a:p>
                <a:r>
                  <a:rPr lang="zh-CN" altLang="en-US" dirty="0"/>
                  <a:t>重要提示：</a:t>
                </a:r>
                <a:endParaRPr lang="en-US" altLang="zh-CN" dirty="0"/>
              </a:p>
              <a:p>
                <a:pPr lvl="1"/>
                <a:r>
                  <a:rPr lang="zh-CN" altLang="en-US" dirty="0"/>
                  <a:t>在代码中</a:t>
                </a:r>
                <a:r>
                  <a:rPr lang="zh-CN" altLang="en-US" b="1" dirty="0">
                    <a:solidFill>
                      <a:srgbClr val="FF0000"/>
                    </a:solidFill>
                  </a:rPr>
                  <a:t>不可出现</a:t>
                </a:r>
                <a:r>
                  <a:rPr lang="zh-CN" altLang="en-US" dirty="0"/>
                  <a:t>除四则运算之外的运算（如</a:t>
                </a:r>
                <a:r>
                  <a:rPr lang="en-US" altLang="zh-CN" dirty="0"/>
                  <a:t>e</a:t>
                </a:r>
                <a:r>
                  <a:rPr lang="zh-CN" altLang="en-US" dirty="0"/>
                  <a:t>的非整数幂）</a:t>
                </a:r>
                <a:endParaRPr lang="en-US" altLang="zh-CN" dirty="0"/>
              </a:p>
              <a:p>
                <a:pPr lvl="1"/>
                <a:r>
                  <a:rPr lang="zh-CN" altLang="en-US" dirty="0"/>
                  <a:t>报告中写出</a:t>
                </a:r>
                <a14:m>
                  <m:oMath xmlns:m="http://schemas.openxmlformats.org/officeDocument/2006/math">
                    <m:r>
                      <a:rPr lang="en-US" altLang="zh-CN" b="0" i="1" smtClean="0">
                        <a:latin typeface="Cambria Math" panose="02040503050406030204" pitchFamily="18" charset="0"/>
                      </a:rPr>
                      <m:t>𝐻</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oMath>
                </a14:m>
                <a:r>
                  <a:rPr lang="zh-CN" altLang="en-US" dirty="0"/>
                  <a:t>表达式时，小数系数可以保留两位有效数字（但在计算时要尽可能精确）</a:t>
                </a:r>
                <a:endParaRPr lang="en-US" altLang="zh-CN" dirty="0"/>
              </a:p>
              <a:p>
                <a:pPr lvl="1"/>
                <a:r>
                  <a:rPr lang="zh-CN" altLang="en-US" dirty="0"/>
                  <a:t>如果需要使用常数</a:t>
                </a:r>
                <a:r>
                  <a:rPr lang="en-US" altLang="zh-CN" dirty="0"/>
                  <a:t>e</a:t>
                </a:r>
                <a:r>
                  <a:rPr lang="zh-CN" altLang="en-US" dirty="0"/>
                  <a:t>，</a:t>
                </a:r>
                <a:r>
                  <a:rPr lang="zh-CN" altLang="en-US" b="1" dirty="0">
                    <a:solidFill>
                      <a:srgbClr val="FF0000"/>
                    </a:solidFill>
                  </a:rPr>
                  <a:t>可以使用</a:t>
                </a:r>
                <a:r>
                  <a:rPr lang="zh-CN" altLang="en-US" dirty="0"/>
                  <a:t>库函数中的</a:t>
                </a:r>
                <a:r>
                  <a:rPr lang="en-US" altLang="zh-CN" dirty="0"/>
                  <a:t>e</a:t>
                </a:r>
                <a:r>
                  <a:rPr lang="zh-CN" altLang="en-US" dirty="0"/>
                  <a:t>值（例如</a:t>
                </a:r>
                <a:r>
                  <a:rPr lang="en-US" altLang="zh-CN" dirty="0" err="1"/>
                  <a:t>numpy.e</a:t>
                </a:r>
                <a:r>
                  <a:rPr lang="zh-CN" altLang="en-US" dirty="0"/>
                  <a:t>），可以认为</a:t>
                </a:r>
                <a:r>
                  <a:rPr lang="en-US" altLang="zh-CN" dirty="0"/>
                  <a:t>e</a:t>
                </a:r>
                <a:r>
                  <a:rPr lang="zh-CN" altLang="en-US" dirty="0"/>
                  <a:t>是准确值</a:t>
                </a:r>
                <a:endParaRPr lang="en-US" altLang="zh-CN" dirty="0"/>
              </a:p>
              <a:p>
                <a:pPr lvl="1"/>
                <a:r>
                  <a:rPr lang="zh-CN" altLang="en-US" dirty="0"/>
                  <a:t>考虑舍入误差时，可以认为</a:t>
                </a:r>
                <a:r>
                  <a:rPr lang="en-US" altLang="zh-CN" dirty="0"/>
                  <a:t>python</a:t>
                </a:r>
                <a:r>
                  <a:rPr lang="zh-CN" altLang="en-US" dirty="0"/>
                  <a:t>中</a:t>
                </a:r>
                <a:r>
                  <a:rPr lang="en-US" altLang="zh-CN" dirty="0"/>
                  <a:t>float</a:t>
                </a:r>
                <a:r>
                  <a:rPr lang="zh-CN" altLang="en-US" dirty="0"/>
                  <a:t>精确到</a:t>
                </a:r>
                <a:r>
                  <a:rPr lang="en-US" altLang="zh-CN" dirty="0"/>
                  <a:t>15</a:t>
                </a:r>
                <a:r>
                  <a:rPr lang="zh-CN" altLang="en-US" dirty="0"/>
                  <a:t>位有效数字。如果使用其他编程语言，请根据数据类型自行确认有效位数，并在报告中写明</a:t>
                </a:r>
                <a:endParaRPr lang="en-US" altLang="zh-CN" dirty="0"/>
              </a:p>
              <a:p>
                <a:pPr lvl="1"/>
                <a:r>
                  <a:rPr lang="zh-CN" altLang="en-US" dirty="0"/>
                  <a:t>本题并不要求逼近是最佳逼近，但希望得到的逼近可以用尽量少的计算量得到要求的结果</a:t>
                </a:r>
                <a:endParaRPr lang="en-US" altLang="zh-CN" dirty="0"/>
              </a:p>
              <a:p>
                <a:pPr lvl="1"/>
                <a:r>
                  <a:rPr lang="zh-CN" altLang="en-US" dirty="0"/>
                  <a:t>可以使用</a:t>
                </a:r>
                <a:r>
                  <a:rPr lang="en-US" altLang="zh-CN" dirty="0"/>
                  <a:t>matplotlib</a:t>
                </a:r>
                <a:r>
                  <a:rPr lang="zh-CN" altLang="en-US" dirty="0"/>
                  <a:t>或其他类似功能的画图库函数，在画</a:t>
                </a:r>
                <a14:m>
                  <m:oMath xmlns:m="http://schemas.openxmlformats.org/officeDocument/2006/math">
                    <m:r>
                      <a:rPr lang="en-US" altLang="zh-CN" b="0" i="1" smtClean="0">
                        <a:latin typeface="Cambria Math" panose="02040503050406030204" pitchFamily="18" charset="0"/>
                      </a:rPr>
                      <m:t>𝐼</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m:t>
                    </m:r>
                  </m:oMath>
                </a14:m>
                <a:r>
                  <a:rPr lang="zh-CN" altLang="en-US" dirty="0"/>
                  <a:t>图像时可以使用</a:t>
                </a:r>
                <a:r>
                  <a:rPr lang="en-US" altLang="zh-CN" dirty="0" err="1"/>
                  <a:t>numpy.exp</a:t>
                </a:r>
                <a:r>
                  <a:rPr lang="zh-CN" altLang="en-US" dirty="0"/>
                  <a:t>函数</a:t>
                </a:r>
                <a:endParaRPr lang="en-US" altLang="zh-CN" dirty="0"/>
              </a:p>
              <a:p>
                <a:pPr lvl="1"/>
                <a:r>
                  <a:rPr lang="zh-CN" altLang="en-US" dirty="0"/>
                  <a:t>在本题中误差分析报告中，请给出严谨的推导过程</a:t>
                </a:r>
                <a:endParaRPr lang="en-US" altLang="zh-CN" dirty="0"/>
              </a:p>
              <a:p>
                <a:pPr marL="457200" lvl="1" indent="0">
                  <a:buNone/>
                </a:pPr>
                <a:endParaRPr lang="zh-CN" altLang="en-US" dirty="0"/>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838200" y="337351"/>
                <a:ext cx="10515600" cy="5839612"/>
              </a:xfrm>
              <a:blipFill rotWithShape="1">
                <a:blip r:embed="rId1"/>
                <a:stretch>
                  <a:fillRect l="-965" t="-1739"/>
                </a:stretch>
              </a:blipFill>
            </p:spPr>
            <p:txBody>
              <a:bodyPr/>
              <a:lstStyle/>
              <a:p>
                <a:r>
                  <a:rPr lang="zh-CN" altLang="en-US">
                    <a:noFill/>
                  </a:rPr>
                  <a:t> </a:t>
                </a:r>
                <a:endParaRPr lang="zh-CN" altLang="en-US">
                  <a:noFill/>
                </a:endParaRP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48130"/>
            <a:ext cx="10515600" cy="1325563"/>
          </a:xfrm>
        </p:spPr>
        <p:txBody>
          <a:bodyPr/>
          <a:lstStyle/>
          <a:p>
            <a:r>
              <a:rPr lang="zh-CN" altLang="en-US" b="1" dirty="0"/>
              <a:t>总体要求</a:t>
            </a:r>
            <a:endParaRPr lang="zh-CN" altLang="en-US" b="1" dirty="0"/>
          </a:p>
        </p:txBody>
      </p:sp>
      <p:sp>
        <p:nvSpPr>
          <p:cNvPr id="3" name="内容占位符 2"/>
          <p:cNvSpPr>
            <a:spLocks noGrp="1"/>
          </p:cNvSpPr>
          <p:nvPr>
            <p:ph idx="1"/>
          </p:nvPr>
        </p:nvSpPr>
        <p:spPr>
          <a:xfrm>
            <a:off x="838200" y="1398231"/>
            <a:ext cx="10515600" cy="5495279"/>
          </a:xfrm>
        </p:spPr>
        <p:txBody>
          <a:bodyPr>
            <a:normAutofit lnSpcReduction="10000"/>
          </a:bodyPr>
          <a:lstStyle/>
          <a:p>
            <a:pPr marL="514350" indent="-514350">
              <a:buAutoNum type="arabicPeriod"/>
            </a:pPr>
            <a:r>
              <a:rPr lang="zh-CN" altLang="en-US" b="1" dirty="0"/>
              <a:t>独立完成</a:t>
            </a:r>
            <a:endParaRPr lang="en-US" altLang="zh-CN" dirty="0"/>
          </a:p>
          <a:p>
            <a:pPr lvl="1"/>
            <a:r>
              <a:rPr lang="zh-CN" altLang="zh-CN" dirty="0"/>
              <a:t>自行编写全部算法</a:t>
            </a:r>
            <a:r>
              <a:rPr lang="zh-CN" altLang="en-US" dirty="0"/>
              <a:t>，对于大作业抄袭与被抄袭者，本次作业以</a:t>
            </a:r>
            <a:r>
              <a:rPr lang="en-US" altLang="zh-CN" dirty="0"/>
              <a:t>0</a:t>
            </a:r>
            <a:r>
              <a:rPr lang="zh-CN" altLang="en-US" dirty="0"/>
              <a:t>分处理。两次大作业均为</a:t>
            </a:r>
            <a:r>
              <a:rPr lang="en-US" altLang="zh-CN" dirty="0"/>
              <a:t>0</a:t>
            </a:r>
            <a:r>
              <a:rPr lang="zh-CN" altLang="en-US" dirty="0"/>
              <a:t>分不能参与期末考试</a:t>
            </a:r>
            <a:endParaRPr lang="en-US" altLang="zh-CN" dirty="0"/>
          </a:p>
          <a:p>
            <a:pPr lvl="1"/>
            <a:r>
              <a:rPr lang="zh-CN" altLang="en-US" dirty="0"/>
              <a:t>请在作业最终截止前不要在</a:t>
            </a:r>
            <a:r>
              <a:rPr lang="en-US" altLang="zh-CN" dirty="0" err="1"/>
              <a:t>github</a:t>
            </a:r>
            <a:r>
              <a:rPr lang="zh-CN" altLang="en-US" dirty="0"/>
              <a:t>公开代码，否则可能被作为“被抄袭者”</a:t>
            </a:r>
            <a:endParaRPr lang="en-US" altLang="zh-CN" dirty="0"/>
          </a:p>
          <a:p>
            <a:pPr marL="514350" indent="-514350">
              <a:buAutoNum type="arabicPeriod"/>
            </a:pPr>
            <a:r>
              <a:rPr lang="zh-CN" altLang="en-US" b="1" dirty="0"/>
              <a:t>代码要求</a:t>
            </a:r>
            <a:r>
              <a:rPr lang="zh-CN" altLang="en-US" dirty="0"/>
              <a:t>：</a:t>
            </a:r>
            <a:endParaRPr lang="en-US" altLang="zh-CN" dirty="0"/>
          </a:p>
          <a:p>
            <a:pPr lvl="1"/>
            <a:r>
              <a:rPr lang="zh-CN" altLang="en-US" dirty="0"/>
              <a:t>在</a:t>
            </a:r>
            <a:r>
              <a:rPr lang="en-US" altLang="zh-CN" dirty="0"/>
              <a:t>python</a:t>
            </a:r>
            <a:r>
              <a:rPr lang="zh-CN" altLang="en-US" dirty="0"/>
              <a:t>、</a:t>
            </a:r>
            <a:r>
              <a:rPr lang="en-US" altLang="zh-CN" dirty="0" err="1"/>
              <a:t>matlab</a:t>
            </a:r>
            <a:r>
              <a:rPr lang="zh-CN" altLang="en-US" dirty="0"/>
              <a:t>、</a:t>
            </a:r>
            <a:r>
              <a:rPr lang="en-US" altLang="zh-CN" dirty="0"/>
              <a:t>C</a:t>
            </a:r>
            <a:r>
              <a:rPr lang="zh-CN" altLang="en-US" dirty="0"/>
              <a:t>、</a:t>
            </a:r>
            <a:r>
              <a:rPr lang="en-US" altLang="zh-CN" dirty="0"/>
              <a:t>C++</a:t>
            </a:r>
            <a:r>
              <a:rPr lang="zh-CN" altLang="en-US" dirty="0"/>
              <a:t>、</a:t>
            </a:r>
            <a:r>
              <a:rPr lang="en-US" altLang="zh-CN" dirty="0"/>
              <a:t>C#</a:t>
            </a:r>
            <a:r>
              <a:rPr lang="zh-CN" altLang="en-US" dirty="0"/>
              <a:t>中任意选择一种作为编程语言</a:t>
            </a:r>
            <a:endParaRPr lang="en-US" altLang="zh-CN" dirty="0"/>
          </a:p>
          <a:p>
            <a:pPr lvl="1"/>
            <a:r>
              <a:rPr lang="zh-CN" altLang="en-US" dirty="0"/>
              <a:t>除作业说明中提到的库函数，不允许使用别的库函数。使用</a:t>
            </a:r>
            <a:r>
              <a:rPr lang="en-US" altLang="zh-CN" dirty="0"/>
              <a:t>C</a:t>
            </a:r>
            <a:r>
              <a:rPr lang="zh-CN" altLang="en-US" dirty="0"/>
              <a:t>系列可以自行寻找可用的矩阵运算库</a:t>
            </a:r>
            <a:endParaRPr lang="en-US" altLang="zh-CN" dirty="0"/>
          </a:p>
          <a:p>
            <a:pPr lvl="1"/>
            <a:r>
              <a:rPr lang="zh-CN" altLang="en-US" dirty="0"/>
              <a:t>代码要求至少能在下面之一种环境中运行</a:t>
            </a:r>
            <a:endParaRPr lang="en-US" altLang="zh-CN" dirty="0"/>
          </a:p>
          <a:p>
            <a:pPr lvl="2"/>
            <a:r>
              <a:rPr lang="en-US" altLang="zh-CN" dirty="0"/>
              <a:t>Windows</a:t>
            </a:r>
            <a:r>
              <a:rPr lang="zh-CN" altLang="en-US" dirty="0"/>
              <a:t>：</a:t>
            </a:r>
            <a:r>
              <a:rPr lang="en-US" altLang="zh-CN" dirty="0"/>
              <a:t>Visual Studio 2010</a:t>
            </a:r>
            <a:r>
              <a:rPr lang="zh-CN" altLang="en-US" dirty="0"/>
              <a:t>及以后版本（提供源码和</a:t>
            </a:r>
            <a:r>
              <a:rPr lang="en-US" altLang="zh-CN" dirty="0"/>
              <a:t>exe</a:t>
            </a:r>
            <a:r>
              <a:rPr lang="zh-CN" altLang="en-US" dirty="0"/>
              <a:t>）；</a:t>
            </a:r>
            <a:r>
              <a:rPr lang="en-US" altLang="zh-CN" dirty="0"/>
              <a:t>python3.5+</a:t>
            </a:r>
            <a:r>
              <a:rPr lang="zh-CN" altLang="en-US" dirty="0"/>
              <a:t>或</a:t>
            </a:r>
            <a:r>
              <a:rPr lang="en-US" altLang="zh-CN" dirty="0"/>
              <a:t>2.7+</a:t>
            </a:r>
            <a:r>
              <a:rPr lang="zh-CN" altLang="en-US" dirty="0"/>
              <a:t>；</a:t>
            </a:r>
            <a:r>
              <a:rPr lang="en-US" altLang="zh-CN" dirty="0"/>
              <a:t>matlab2018+</a:t>
            </a:r>
            <a:endParaRPr lang="en-US" altLang="zh-CN" dirty="0"/>
          </a:p>
          <a:p>
            <a:pPr lvl="2"/>
            <a:r>
              <a:rPr lang="en-US" altLang="zh-CN" dirty="0"/>
              <a:t>Linux</a:t>
            </a:r>
            <a:r>
              <a:rPr lang="zh-CN" altLang="en-US" dirty="0"/>
              <a:t>：</a:t>
            </a:r>
            <a:r>
              <a:rPr lang="en-US" altLang="zh-CN" dirty="0"/>
              <a:t>GCC4</a:t>
            </a:r>
            <a:r>
              <a:rPr lang="zh-CN" altLang="en-US" dirty="0"/>
              <a:t>以上（请提供源码和</a:t>
            </a:r>
            <a:r>
              <a:rPr lang="en-US" altLang="zh-CN" dirty="0" err="1"/>
              <a:t>makefile</a:t>
            </a:r>
            <a:r>
              <a:rPr lang="zh-CN" altLang="en-US" dirty="0"/>
              <a:t>）；</a:t>
            </a:r>
            <a:r>
              <a:rPr lang="en-US" altLang="zh-CN" dirty="0"/>
              <a:t>python3.5+</a:t>
            </a:r>
            <a:r>
              <a:rPr lang="zh-CN" altLang="en-US" dirty="0"/>
              <a:t>或</a:t>
            </a:r>
            <a:r>
              <a:rPr lang="en-US" altLang="zh-CN" dirty="0"/>
              <a:t>2.7+</a:t>
            </a:r>
            <a:r>
              <a:rPr lang="zh-CN" altLang="en-US" dirty="0"/>
              <a:t>；</a:t>
            </a:r>
            <a:r>
              <a:rPr lang="en-US" altLang="zh-CN" dirty="0"/>
              <a:t> matlab2018+</a:t>
            </a:r>
            <a:endParaRPr lang="en-US" altLang="zh-CN" dirty="0"/>
          </a:p>
          <a:p>
            <a:pPr lvl="1"/>
            <a:r>
              <a:rPr lang="zh-CN" altLang="en-US" dirty="0"/>
              <a:t>需要适当注释，并提供</a:t>
            </a:r>
            <a:r>
              <a:rPr lang="en-US" altLang="zh-CN" dirty="0"/>
              <a:t>readme</a:t>
            </a:r>
            <a:r>
              <a:rPr lang="zh-CN" altLang="en-US" dirty="0"/>
              <a:t>文件，在其中说明详细的环境信息</a:t>
            </a:r>
            <a:endParaRPr lang="en-US" altLang="zh-CN" dirty="0"/>
          </a:p>
          <a:p>
            <a:pPr lvl="1"/>
            <a:r>
              <a:rPr lang="zh-CN" altLang="en-US" dirty="0"/>
              <a:t>如果无法运行，将有一次使用自己的电脑现场调试的机会</a:t>
            </a:r>
            <a:endParaRPr lang="en-US" altLang="zh-C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总体要求</a:t>
            </a:r>
            <a:endParaRPr lang="zh-CN" altLang="en-US" b="1" dirty="0"/>
          </a:p>
        </p:txBody>
      </p:sp>
      <p:sp>
        <p:nvSpPr>
          <p:cNvPr id="3" name="内容占位符 2"/>
          <p:cNvSpPr>
            <a:spLocks noGrp="1"/>
          </p:cNvSpPr>
          <p:nvPr>
            <p:ph idx="1"/>
          </p:nvPr>
        </p:nvSpPr>
        <p:spPr>
          <a:xfrm>
            <a:off x="838200" y="1589104"/>
            <a:ext cx="10515600" cy="5131292"/>
          </a:xfrm>
        </p:spPr>
        <p:txBody>
          <a:bodyPr>
            <a:normAutofit/>
          </a:bodyPr>
          <a:lstStyle/>
          <a:p>
            <a:pPr marL="514350" indent="-514350">
              <a:buFont typeface="+mj-lt"/>
              <a:buAutoNum type="arabicPeriod" startAt="2"/>
            </a:pPr>
            <a:r>
              <a:rPr lang="zh-CN" altLang="en-US" b="1" dirty="0"/>
              <a:t>代码要求</a:t>
            </a:r>
            <a:endParaRPr lang="en-US" altLang="zh-CN" b="1" dirty="0"/>
          </a:p>
          <a:p>
            <a:pPr lvl="1"/>
            <a:r>
              <a:rPr lang="en-US" altLang="zh-CN" dirty="0"/>
              <a:t>C</a:t>
            </a:r>
            <a:r>
              <a:rPr lang="zh-CN" altLang="en-US" dirty="0"/>
              <a:t>、</a:t>
            </a:r>
            <a:r>
              <a:rPr lang="en-US" altLang="zh-CN" dirty="0"/>
              <a:t>C++</a:t>
            </a:r>
            <a:r>
              <a:rPr lang="zh-CN" altLang="en-US" dirty="0"/>
              <a:t>、</a:t>
            </a:r>
            <a:r>
              <a:rPr lang="en-US" altLang="zh-CN" dirty="0"/>
              <a:t>C#</a:t>
            </a:r>
            <a:r>
              <a:rPr lang="zh-CN" altLang="en-US" dirty="0"/>
              <a:t>打包前请删除预编译的头文件（</a:t>
            </a:r>
            <a:r>
              <a:rPr lang="en-US" altLang="zh-CN" dirty="0"/>
              <a:t>Pre-Compiled Header</a:t>
            </a:r>
            <a:r>
              <a:rPr lang="zh-CN" altLang="en-US" dirty="0"/>
              <a:t>），</a:t>
            </a:r>
            <a:r>
              <a:rPr lang="en-US" altLang="zh-CN" dirty="0"/>
              <a:t>IntelliSense</a:t>
            </a:r>
            <a:r>
              <a:rPr lang="zh-CN" altLang="en-US" dirty="0"/>
              <a:t>数据库文件（如果有 的话）。充分减少压缩包的大小</a:t>
            </a:r>
            <a:endParaRPr lang="en-US" altLang="zh-CN" dirty="0"/>
          </a:p>
          <a:p>
            <a:pPr lvl="1"/>
            <a:r>
              <a:rPr lang="zh-CN" altLang="en-US" dirty="0"/>
              <a:t>程序运行崩溃、异常退出及明显的内存泄露会被扣分；</a:t>
            </a:r>
            <a:endParaRPr lang="zh-CN" altLang="en-US" dirty="0"/>
          </a:p>
          <a:p>
            <a:pPr lvl="1"/>
            <a:r>
              <a:rPr lang="zh-CN" altLang="en-US" dirty="0"/>
              <a:t>代码会进行查重，核心代码重复将被认为是抄袭</a:t>
            </a:r>
            <a:endParaRPr lang="en-US" altLang="zh-CN" b="1" dirty="0"/>
          </a:p>
          <a:p>
            <a:pPr marL="514350" indent="-514350">
              <a:buFont typeface="+mj-lt"/>
              <a:buAutoNum type="arabicPeriod" startAt="2"/>
            </a:pPr>
            <a:r>
              <a:rPr lang="zh-CN" altLang="en-US" b="1" dirty="0"/>
              <a:t>报告要求</a:t>
            </a:r>
            <a:endParaRPr lang="en-US" altLang="zh-CN" b="1" dirty="0"/>
          </a:p>
          <a:p>
            <a:pPr lvl="1"/>
            <a:r>
              <a:rPr lang="zh-CN" altLang="en-US" dirty="0"/>
              <a:t>使用中文、</a:t>
            </a:r>
            <a:r>
              <a:rPr lang="en-US" altLang="zh-CN" dirty="0"/>
              <a:t>A4</a:t>
            </a:r>
            <a:r>
              <a:rPr lang="zh-CN" altLang="en-US" dirty="0"/>
              <a:t>常规边距、单栏、正文字号</a:t>
            </a:r>
            <a:r>
              <a:rPr lang="en-US" altLang="zh-CN" dirty="0"/>
              <a:t>5</a:t>
            </a:r>
            <a:r>
              <a:rPr lang="zh-CN" altLang="en-US" dirty="0"/>
              <a:t>号、</a:t>
            </a:r>
            <a:r>
              <a:rPr lang="en-US" altLang="zh-CN" dirty="0"/>
              <a:t>1.5</a:t>
            </a:r>
            <a:r>
              <a:rPr lang="zh-CN" altLang="en-US" dirty="0"/>
              <a:t>倍行距、总体</a:t>
            </a:r>
            <a:r>
              <a:rPr lang="zh-CN" altLang="en-US" b="1" dirty="0"/>
              <a:t>不超过</a:t>
            </a:r>
            <a:r>
              <a:rPr lang="en-US" altLang="zh-CN" b="1" dirty="0"/>
              <a:t>6</a:t>
            </a:r>
            <a:r>
              <a:rPr lang="zh-CN" altLang="en-US" b="1" dirty="0"/>
              <a:t>页</a:t>
            </a:r>
            <a:r>
              <a:rPr lang="zh-CN" altLang="en-US" dirty="0"/>
              <a:t>，使用</a:t>
            </a:r>
            <a:r>
              <a:rPr lang="en-US" altLang="zh-CN" dirty="0"/>
              <a:t>pdf</a:t>
            </a:r>
            <a:r>
              <a:rPr lang="zh-CN" altLang="en-US" dirty="0"/>
              <a:t>格式提交</a:t>
            </a:r>
            <a:endParaRPr lang="en-US" altLang="zh-CN" dirty="0"/>
          </a:p>
          <a:p>
            <a:pPr lvl="1"/>
            <a:r>
              <a:rPr lang="zh-CN" altLang="en-US" dirty="0"/>
              <a:t>报告内不要粘贴代码</a:t>
            </a:r>
            <a:endParaRPr lang="en-US" altLang="zh-CN" dirty="0"/>
          </a:p>
          <a:p>
            <a:pPr lvl="1"/>
            <a:r>
              <a:rPr lang="zh-CN" altLang="en-US" dirty="0"/>
              <a:t>报告内容应当包括：方案设计中必要的数学推导、误差分析、作图结果</a:t>
            </a:r>
            <a:endParaRPr lang="en-US" altLang="zh-CN" dirty="0"/>
          </a:p>
          <a:p>
            <a:pPr lvl="1"/>
            <a:r>
              <a:rPr lang="zh-CN" altLang="en-US" dirty="0"/>
              <a:t>报告会进行查重，</a:t>
            </a:r>
            <a:r>
              <a:rPr lang="en-US" altLang="zh-CN" dirty="0"/>
              <a:t>10%</a:t>
            </a:r>
            <a:r>
              <a:rPr lang="zh-CN" altLang="en-US" dirty="0"/>
              <a:t>重复率将认为是抄袭</a:t>
            </a:r>
            <a:endParaRPr lang="en-US" altLang="zh-CN" dirty="0"/>
          </a:p>
          <a:p>
            <a:pPr marL="457200" lvl="1" indent="0">
              <a:buNone/>
            </a:pPr>
            <a:endParaRPr lang="en-US" altLang="zh-CN" dirty="0"/>
          </a:p>
          <a:p>
            <a:pPr lvl="1"/>
            <a:endParaRPr lang="en-US" altLang="zh-CN" dirty="0"/>
          </a:p>
          <a:p>
            <a:pPr marL="0" indent="0">
              <a:buNone/>
            </a:pPr>
            <a:endParaRPr lang="zh-CN" altLang="en-US" dirty="0"/>
          </a:p>
          <a:p>
            <a:pPr lvl="1"/>
            <a:endParaRPr lang="en-US" altLang="zh-CN" b="1" dirty="0"/>
          </a:p>
          <a:p>
            <a:pPr marL="514350" indent="-514350">
              <a:buAutoNum type="arabicPeriod" startAt="2"/>
            </a:pPr>
            <a:endParaRPr lang="en-US" altLang="zh-CN" b="1" dirty="0"/>
          </a:p>
          <a:p>
            <a:endParaRPr lang="zh-CN"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t>总体要求</a:t>
            </a:r>
            <a:endParaRPr lang="zh-CN" altLang="en-US" b="1" dirty="0"/>
          </a:p>
        </p:txBody>
      </p:sp>
      <p:sp>
        <p:nvSpPr>
          <p:cNvPr id="3" name="内容占位符 2"/>
          <p:cNvSpPr>
            <a:spLocks noGrp="1"/>
          </p:cNvSpPr>
          <p:nvPr>
            <p:ph idx="1"/>
          </p:nvPr>
        </p:nvSpPr>
        <p:spPr>
          <a:xfrm>
            <a:off x="838200" y="1464816"/>
            <a:ext cx="10515600" cy="5131293"/>
          </a:xfrm>
        </p:spPr>
        <p:txBody>
          <a:bodyPr>
            <a:normAutofit/>
          </a:bodyPr>
          <a:lstStyle/>
          <a:p>
            <a:pPr marL="514350" indent="-514350">
              <a:buFont typeface="+mj-lt"/>
              <a:buAutoNum type="arabicPeriod" startAt="4"/>
            </a:pPr>
            <a:r>
              <a:rPr lang="zh-CN" altLang="en-US" b="1" dirty="0"/>
              <a:t>提交要求</a:t>
            </a:r>
            <a:endParaRPr lang="en-US" altLang="zh-CN" b="1" dirty="0"/>
          </a:p>
          <a:p>
            <a:pPr lvl="1"/>
            <a:r>
              <a:rPr lang="zh-CN" altLang="en-US" dirty="0"/>
              <a:t>压缩包提交，内容包括实验报告、源码可执行文件等（详见代码要求）</a:t>
            </a:r>
            <a:endParaRPr lang="en-US" altLang="zh-CN" dirty="0"/>
          </a:p>
          <a:p>
            <a:pPr lvl="1"/>
            <a:r>
              <a:rPr lang="zh-CN" altLang="en-US" dirty="0"/>
              <a:t>将所有文件放在一个文件夹后再对文件夹压缩。文件夹和压缩包均命名为“学号</a:t>
            </a:r>
            <a:r>
              <a:rPr lang="en-US" altLang="zh-CN" dirty="0"/>
              <a:t>_</a:t>
            </a:r>
            <a:r>
              <a:rPr lang="zh-CN" altLang="en-US" dirty="0"/>
              <a:t>姓名</a:t>
            </a:r>
            <a:r>
              <a:rPr lang="en-US" altLang="zh-CN" dirty="0"/>
              <a:t>_</a:t>
            </a:r>
            <a:r>
              <a:rPr lang="zh-CN" altLang="en-US" dirty="0"/>
              <a:t>班级</a:t>
            </a:r>
            <a:r>
              <a:rPr lang="en-US" altLang="zh-CN" dirty="0"/>
              <a:t>_</a:t>
            </a:r>
            <a:r>
              <a:rPr lang="zh-CN" altLang="en-US" dirty="0"/>
              <a:t>大作业</a:t>
            </a:r>
            <a:r>
              <a:rPr lang="en-US" altLang="zh-CN" dirty="0"/>
              <a:t>1</a:t>
            </a:r>
            <a:r>
              <a:rPr lang="zh-CN" altLang="en-US" dirty="0"/>
              <a:t>”</a:t>
            </a:r>
            <a:endParaRPr lang="en-US" altLang="zh-CN" dirty="0"/>
          </a:p>
          <a:p>
            <a:pPr lvl="1"/>
            <a:r>
              <a:rPr lang="en-US" altLang="zh-CN" dirty="0"/>
              <a:t>DDL</a:t>
            </a:r>
            <a:r>
              <a:rPr lang="zh-CN" altLang="en-US" dirty="0"/>
              <a:t>：</a:t>
            </a:r>
            <a:r>
              <a:rPr lang="en-US" altLang="zh-CN" b="1" dirty="0">
                <a:solidFill>
                  <a:srgbClr val="FF0000"/>
                </a:solidFill>
              </a:rPr>
              <a:t>11</a:t>
            </a:r>
            <a:r>
              <a:rPr lang="zh-CN" altLang="en-US" b="1" dirty="0">
                <a:solidFill>
                  <a:srgbClr val="FF0000"/>
                </a:solidFill>
              </a:rPr>
              <a:t>月</a:t>
            </a:r>
            <a:r>
              <a:rPr lang="en-US" altLang="zh-CN" b="1" dirty="0">
                <a:solidFill>
                  <a:srgbClr val="FF0000"/>
                </a:solidFill>
              </a:rPr>
              <a:t>9</a:t>
            </a:r>
            <a:r>
              <a:rPr lang="zh-CN" altLang="en-US" b="1" dirty="0">
                <a:solidFill>
                  <a:srgbClr val="FF0000"/>
                </a:solidFill>
              </a:rPr>
              <a:t>日</a:t>
            </a:r>
            <a:r>
              <a:rPr lang="zh-CN" altLang="en-US" dirty="0"/>
              <a:t>。如果因为重大事件（毕业汇演、电子设计大赛等）或考试（</a:t>
            </a:r>
            <a:r>
              <a:rPr lang="en-US" altLang="zh-CN" dirty="0"/>
              <a:t>TOFEL</a:t>
            </a:r>
            <a:r>
              <a:rPr lang="zh-CN" altLang="en-US" dirty="0"/>
              <a:t>、</a:t>
            </a:r>
            <a:r>
              <a:rPr lang="en-US" altLang="zh-CN" dirty="0"/>
              <a:t>GRE</a:t>
            </a:r>
            <a:r>
              <a:rPr lang="zh-CN" altLang="en-US" dirty="0"/>
              <a:t>等）无法按期提交，可以再截止</a:t>
            </a:r>
            <a:r>
              <a:rPr lang="en-US" altLang="zh-CN" dirty="0"/>
              <a:t>48</a:t>
            </a:r>
            <a:r>
              <a:rPr lang="zh-CN" altLang="en-US" dirty="0"/>
              <a:t>小时前提出申请。最长延期申请是</a:t>
            </a:r>
            <a:r>
              <a:rPr lang="en-US" altLang="zh-CN" dirty="0"/>
              <a:t>2</a:t>
            </a:r>
            <a:r>
              <a:rPr lang="zh-CN" altLang="en-US" dirty="0"/>
              <a:t>周。</a:t>
            </a:r>
            <a:endParaRPr lang="en-US" altLang="zh-CN" dirty="0"/>
          </a:p>
          <a:p>
            <a:pPr lvl="1"/>
            <a:r>
              <a:rPr lang="zh-CN" altLang="en-US" dirty="0"/>
              <a:t>缺交作业按照</a:t>
            </a:r>
            <a:r>
              <a:rPr lang="en-US" altLang="zh-CN" dirty="0"/>
              <a:t>0</a:t>
            </a:r>
            <a:r>
              <a:rPr lang="zh-CN" altLang="en-US" dirty="0"/>
              <a:t>分计算。期末补交的缺交作业（包括超期的延期作业）按照</a:t>
            </a:r>
            <a:r>
              <a:rPr lang="en-US" altLang="zh-CN" dirty="0"/>
              <a:t>60%</a:t>
            </a:r>
            <a:r>
              <a:rPr lang="zh-CN" altLang="en-US" dirty="0"/>
              <a:t>计算</a:t>
            </a:r>
            <a:endParaRPr lang="en-US" altLang="zh-CN" dirty="0"/>
          </a:p>
          <a:p>
            <a:pPr marL="514350" indent="-514350">
              <a:buFont typeface="+mj-lt"/>
              <a:buAutoNum type="arabicPeriod" startAt="5"/>
            </a:pPr>
            <a:r>
              <a:rPr lang="zh-CN" altLang="en-US" b="1" dirty="0"/>
              <a:t>答疑</a:t>
            </a:r>
            <a:endParaRPr lang="en-US" altLang="zh-CN" b="1" dirty="0"/>
          </a:p>
          <a:p>
            <a:pPr marL="457200" lvl="1" indent="0">
              <a:buNone/>
            </a:pPr>
            <a:r>
              <a:rPr lang="zh-CN" altLang="en-US" dirty="0"/>
              <a:t>大作业相关答疑请联系陈炜祥、赵文亮。大作业方面的答疑暂时只接受题目或要求的表述不明以及题目中的争议性问题</a:t>
            </a:r>
            <a:endParaRPr lang="zh-CN" altLang="en-US"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1096</Words>
  <Application>WPS 演示</Application>
  <PresentationFormat>宽屏</PresentationFormat>
  <Paragraphs>74</Paragraphs>
  <Slides>11</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11</vt:i4>
      </vt:variant>
    </vt:vector>
  </HeadingPairs>
  <TitlesOfParts>
    <vt:vector size="20" baseType="lpstr">
      <vt:lpstr>Arial</vt:lpstr>
      <vt:lpstr>宋体</vt:lpstr>
      <vt:lpstr>Wingdings</vt:lpstr>
      <vt:lpstr>等线 Light</vt:lpstr>
      <vt:lpstr>等线</vt:lpstr>
      <vt:lpstr>微软雅黑</vt:lpstr>
      <vt:lpstr>Arial Unicode MS</vt:lpstr>
      <vt:lpstr>Calibri</vt:lpstr>
      <vt:lpstr>Office 主题​​</vt:lpstr>
      <vt:lpstr>2020秋季学期数值分析 第一次大作业说明</vt:lpstr>
      <vt:lpstr>背景</vt:lpstr>
      <vt:lpstr>1.传染病学SI模型</vt:lpstr>
      <vt:lpstr>2.最小二乘法SI模型参数估计</vt:lpstr>
      <vt:lpstr>3.插值法SI模型感染人数估计</vt:lpstr>
      <vt:lpstr>PowerPoint 演示文稿</vt:lpstr>
      <vt:lpstr>4.逼近法绘制SI模型简化曲线</vt:lpstr>
      <vt:lpstr>PowerPoint 演示文稿</vt:lpstr>
      <vt:lpstr>总体要求</vt:lpstr>
      <vt:lpstr>总体要求</vt:lpstr>
      <vt:lpstr>总体要求</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2020秋季学期数值分析 第一次大作业说明</dc:title>
  <dc:creator>陈 炜祥</dc:creator>
  <cp:lastModifiedBy>永远的朋友</cp:lastModifiedBy>
  <cp:revision>212</cp:revision>
  <dcterms:created xsi:type="dcterms:W3CDTF">2020-10-04T01:15:00Z</dcterms:created>
  <dcterms:modified xsi:type="dcterms:W3CDTF">2020-10-15T08:39:41Z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2052-11.1.0.9999</vt:lpwstr>
  </property>
</Properties>
</file>